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2F2F2"/>
          </a:solidFill>
        </a:fill>
      </a:tcStyle>
    </a:wholeTbl>
    <a:band2H>
      <a:tcTxStyle b="def" i="def"/>
      <a:tcStyle>
        <a:tcBdr/>
        <a:fill>
          <a:solidFill>
            <a:srgbClr val="F9F9F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lumOff val="16690"/>
            </a:schemeClr>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lumOff val="16690"/>
            </a:schemeClr>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lumOff val="16690"/>
            </a:schemeClr>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CDCDC"/>
          </a:solidFill>
        </a:fill>
      </a:tcStyle>
    </a:wholeTbl>
    <a:band2H>
      <a:tcTxStyle b="def" i="def"/>
      <a:tcStyle>
        <a:tcBdr/>
        <a:fill>
          <a:solidFill>
            <a:schemeClr val="accent6">
              <a:lumOff val="63215"/>
            </a:schemeClr>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CFCF"/>
          </a:solidFill>
        </a:fill>
      </a:tcStyle>
    </a:wholeTbl>
    <a:band2H>
      <a:tcTxStyle b="def" i="def"/>
      <a:tcStyle>
        <a:tcBdr/>
        <a:fill>
          <a:solidFill>
            <a:srgbClr val="E8E8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2">
              <a:lumOff val="16690"/>
            </a:schemeClr>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2">
              <a:lumOff val="16690"/>
            </a:schemeClr>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3" name="Shape 23"/>
          <p:cNvSpPr/>
          <p:nvPr>
            <p:ph type="sldImg"/>
          </p:nvPr>
        </p:nvSpPr>
        <p:spPr>
          <a:xfrm>
            <a:off x="1143000" y="685800"/>
            <a:ext cx="4572000" cy="3429000"/>
          </a:xfrm>
          <a:prstGeom prst="rect">
            <a:avLst/>
          </a:prstGeom>
        </p:spPr>
        <p:txBody>
          <a:bodyPr/>
          <a:lstStyle/>
          <a:p>
            <a:pPr/>
          </a:p>
        </p:txBody>
      </p:sp>
      <p:sp>
        <p:nvSpPr>
          <p:cNvPr id="24" name="Shape 2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Calibri"/>
      </a:defRPr>
    </a:lvl1pPr>
    <a:lvl2pPr indent="228600" latinLnBrk="0">
      <a:spcBef>
        <a:spcPts val="400"/>
      </a:spcBef>
      <a:defRPr sz="1200">
        <a:latin typeface="+mn-lt"/>
        <a:ea typeface="+mn-ea"/>
        <a:cs typeface="+mn-cs"/>
        <a:sym typeface="Calibri"/>
      </a:defRPr>
    </a:lvl2pPr>
    <a:lvl3pPr indent="457200" latinLnBrk="0">
      <a:spcBef>
        <a:spcPts val="400"/>
      </a:spcBef>
      <a:defRPr sz="1200">
        <a:latin typeface="+mn-lt"/>
        <a:ea typeface="+mn-ea"/>
        <a:cs typeface="+mn-cs"/>
        <a:sym typeface="Calibri"/>
      </a:defRPr>
    </a:lvl3pPr>
    <a:lvl4pPr indent="685800" latinLnBrk="0">
      <a:spcBef>
        <a:spcPts val="400"/>
      </a:spcBef>
      <a:defRPr sz="1200">
        <a:latin typeface="+mn-lt"/>
        <a:ea typeface="+mn-ea"/>
        <a:cs typeface="+mn-cs"/>
        <a:sym typeface="Calibri"/>
      </a:defRPr>
    </a:lvl4pPr>
    <a:lvl5pPr indent="914400" latinLnBrk="0">
      <a:spcBef>
        <a:spcPts val="400"/>
      </a:spcBef>
      <a:defRPr sz="1200">
        <a:latin typeface="+mn-lt"/>
        <a:ea typeface="+mn-ea"/>
        <a:cs typeface="+mn-cs"/>
        <a:sym typeface="Calibri"/>
      </a:defRPr>
    </a:lvl5pPr>
    <a:lvl6pPr indent="1143000" latinLnBrk="0">
      <a:spcBef>
        <a:spcPts val="400"/>
      </a:spcBef>
      <a:defRPr sz="1200">
        <a:latin typeface="+mn-lt"/>
        <a:ea typeface="+mn-ea"/>
        <a:cs typeface="+mn-cs"/>
        <a:sym typeface="Calibri"/>
      </a:defRPr>
    </a:lvl6pPr>
    <a:lvl7pPr indent="1371600" latinLnBrk="0">
      <a:spcBef>
        <a:spcPts val="400"/>
      </a:spcBef>
      <a:defRPr sz="1200">
        <a:latin typeface="+mn-lt"/>
        <a:ea typeface="+mn-ea"/>
        <a:cs typeface="+mn-cs"/>
        <a:sym typeface="Calibri"/>
      </a:defRPr>
    </a:lvl7pPr>
    <a:lvl8pPr indent="1600200" latinLnBrk="0">
      <a:spcBef>
        <a:spcPts val="400"/>
      </a:spcBef>
      <a:defRPr sz="1200">
        <a:latin typeface="+mn-lt"/>
        <a:ea typeface="+mn-ea"/>
        <a:cs typeface="+mn-cs"/>
        <a:sym typeface="Calibri"/>
      </a:defRPr>
    </a:lvl8pPr>
    <a:lvl9pPr indent="1828800" latinLnBrk="0">
      <a:spcBef>
        <a:spcPts val="400"/>
      </a:spcBef>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Rectangle 5"/>
          <p:cNvSpPr/>
          <p:nvPr/>
        </p:nvSpPr>
        <p:spPr>
          <a:xfrm>
            <a:off x="0" y="6430962"/>
            <a:ext cx="4724400" cy="46038"/>
          </a:xfrm>
          <a:prstGeom prst="rect">
            <a:avLst/>
          </a:prstGeom>
          <a:gradFill>
            <a:gsLst>
              <a:gs pos="0">
                <a:srgbClr val="FF0000"/>
              </a:gs>
              <a:gs pos="10001">
                <a:srgbClr val="FF0000"/>
              </a:gs>
              <a:gs pos="35001">
                <a:srgbClr val="BA0066"/>
              </a:gs>
              <a:gs pos="70000">
                <a:srgbClr val="66008F"/>
              </a:gs>
              <a:gs pos="100000">
                <a:srgbClr val="000082"/>
              </a:gs>
            </a:gsLst>
          </a:gradFill>
          <a:ln w="12700">
            <a:miter lim="400000"/>
          </a:ln>
        </p:spPr>
        <p:txBody>
          <a:bodyPr lIns="45719" rIns="45719" anchor="ctr"/>
          <a:lstStyle/>
          <a:p>
            <a:pPr/>
          </a:p>
        </p:txBody>
      </p:sp>
      <p:sp>
        <p:nvSpPr>
          <p:cNvPr id="3" name="Rectangle 6"/>
          <p:cNvSpPr/>
          <p:nvPr/>
        </p:nvSpPr>
        <p:spPr>
          <a:xfrm>
            <a:off x="4572000" y="6430962"/>
            <a:ext cx="4572000" cy="46038"/>
          </a:xfrm>
          <a:prstGeom prst="rect">
            <a:avLst/>
          </a:prstGeom>
          <a:gradFill>
            <a:gsLst>
              <a:gs pos="0">
                <a:srgbClr val="000099"/>
              </a:gs>
              <a:gs pos="100000">
                <a:srgbClr val="FFFFFF"/>
              </a:gs>
            </a:gsLst>
          </a:gradFill>
          <a:ln w="12700">
            <a:miter lim="400000"/>
          </a:ln>
        </p:spPr>
        <p:txBody>
          <a:bodyPr lIns="45719" rIns="45719" anchor="ctr"/>
          <a:lstStyle/>
          <a:p>
            <a:pPr/>
          </a:p>
        </p:txBody>
      </p:sp>
      <p:sp>
        <p:nvSpPr>
          <p:cNvPr id="4" name="Rectangle 5"/>
          <p:cNvSpPr/>
          <p:nvPr/>
        </p:nvSpPr>
        <p:spPr>
          <a:xfrm>
            <a:off x="0" y="792162"/>
            <a:ext cx="4724400" cy="46038"/>
          </a:xfrm>
          <a:prstGeom prst="rect">
            <a:avLst/>
          </a:prstGeom>
          <a:gradFill>
            <a:gsLst>
              <a:gs pos="0">
                <a:srgbClr val="FF0000"/>
              </a:gs>
              <a:gs pos="10001">
                <a:srgbClr val="FF0000"/>
              </a:gs>
              <a:gs pos="35001">
                <a:srgbClr val="BA0066"/>
              </a:gs>
              <a:gs pos="70000">
                <a:srgbClr val="66008F"/>
              </a:gs>
              <a:gs pos="100000">
                <a:srgbClr val="000082"/>
              </a:gs>
            </a:gsLst>
          </a:gradFill>
          <a:ln w="12700">
            <a:miter lim="400000"/>
          </a:ln>
        </p:spPr>
        <p:txBody>
          <a:bodyPr lIns="45719" rIns="45719" anchor="ctr"/>
          <a:lstStyle/>
          <a:p>
            <a:pPr/>
          </a:p>
        </p:txBody>
      </p:sp>
      <p:sp>
        <p:nvSpPr>
          <p:cNvPr id="5" name="Rectangle 6"/>
          <p:cNvSpPr/>
          <p:nvPr/>
        </p:nvSpPr>
        <p:spPr>
          <a:xfrm>
            <a:off x="4648200" y="792162"/>
            <a:ext cx="4495800" cy="46038"/>
          </a:xfrm>
          <a:prstGeom prst="rect">
            <a:avLst/>
          </a:prstGeom>
          <a:gradFill>
            <a:gsLst>
              <a:gs pos="0">
                <a:srgbClr val="000099"/>
              </a:gs>
              <a:gs pos="100000">
                <a:srgbClr val="FFFFFF"/>
              </a:gs>
            </a:gsLst>
          </a:gradFill>
          <a:ln w="12700">
            <a:miter lim="400000"/>
          </a:ln>
        </p:spPr>
        <p:txBody>
          <a:bodyPr lIns="45719" rIns="45719" anchor="ctr"/>
          <a:lstStyle/>
          <a:p>
            <a:pPr/>
          </a:p>
        </p:txBody>
      </p:sp>
      <p:pic>
        <p:nvPicPr>
          <p:cNvPr id="6" name="Picture 10" descr="Picture 10"/>
          <p:cNvPicPr>
            <a:picLocks noChangeAspect="1"/>
          </p:cNvPicPr>
          <p:nvPr/>
        </p:nvPicPr>
        <p:blipFill>
          <a:blip r:embed="rId3">
            <a:extLst/>
          </a:blip>
          <a:stretch>
            <a:fillRect/>
          </a:stretch>
        </p:blipFill>
        <p:spPr>
          <a:xfrm>
            <a:off x="7981994" y="23812"/>
            <a:ext cx="1009607" cy="738188"/>
          </a:xfrm>
          <a:prstGeom prst="rect">
            <a:avLst/>
          </a:prstGeom>
          <a:ln w="12700">
            <a:miter lim="400000"/>
          </a:ln>
        </p:spPr>
      </p:pic>
      <p:sp>
        <p:nvSpPr>
          <p:cNvPr id="7" name="Slide Number"/>
          <p:cNvSpPr txBox="1"/>
          <p:nvPr>
            <p:ph type="sldNum" sz="quarter" idx="2"/>
          </p:nvPr>
        </p:nvSpPr>
        <p:spPr>
          <a:xfrm>
            <a:off x="7696200" y="6488112"/>
            <a:ext cx="358413" cy="350663"/>
          </a:xfrm>
          <a:prstGeom prst="rect">
            <a:avLst/>
          </a:prstGeom>
          <a:ln w="12700">
            <a:miter lim="400000"/>
          </a:ln>
        </p:spPr>
        <p:txBody>
          <a:bodyPr wrap="none" lIns="45719" rIns="45719">
            <a:spAutoFit/>
          </a:bodyPr>
          <a:lstStyle>
            <a:lvl1pPr>
              <a:defRPr>
                <a:latin typeface="Arial"/>
                <a:ea typeface="Arial"/>
                <a:cs typeface="Arial"/>
                <a:sym typeface="Arial"/>
              </a:defRPr>
            </a:lvl1pPr>
          </a:lstStyle>
          <a:p>
            <a:pPr/>
            <a:fld id="{86CB4B4D-7CA3-9044-876B-883B54F8677D}" type="slidenum"/>
          </a:p>
        </p:txBody>
      </p:sp>
      <p:pic>
        <p:nvPicPr>
          <p:cNvPr id="8" name="Picture 2" descr="Picture 2"/>
          <p:cNvPicPr>
            <a:picLocks noChangeAspect="1"/>
          </p:cNvPicPr>
          <p:nvPr/>
        </p:nvPicPr>
        <p:blipFill>
          <a:blip r:embed="rId3">
            <a:extLst/>
          </a:blip>
          <a:stretch>
            <a:fillRect/>
          </a:stretch>
        </p:blipFill>
        <p:spPr>
          <a:xfrm>
            <a:off x="7981994" y="23812"/>
            <a:ext cx="1009607" cy="738188"/>
          </a:xfrm>
          <a:prstGeom prst="rect">
            <a:avLst/>
          </a:prstGeom>
          <a:ln w="12700">
            <a:miter lim="400000"/>
          </a:ln>
        </p:spPr>
      </p:pic>
      <p:sp>
        <p:nvSpPr>
          <p:cNvPr id="9" name="Title Text"/>
          <p:cNvSpPr txBox="1"/>
          <p:nvPr>
            <p:ph type="title"/>
          </p:nvPr>
        </p:nvSpPr>
        <p:spPr>
          <a:xfrm>
            <a:off x="457200" y="92074"/>
            <a:ext cx="82296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10" name="Body Level One…"/>
          <p:cNvSpPr txBox="1"/>
          <p:nvPr>
            <p:ph type="body" idx="1"/>
          </p:nvPr>
        </p:nvSpPr>
        <p:spPr>
          <a:xfrm>
            <a:off x="457200" y="1600200"/>
            <a:ext cx="82296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5pPr>
      <a:lvl6pPr marL="0" marR="0" indent="45720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6pPr>
      <a:lvl7pPr marL="0" marR="0" indent="91440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7pPr>
      <a:lvl8pPr marL="0" marR="0" indent="137160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8pPr>
      <a:lvl9pPr marL="0" marR="0" indent="182880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rial"/>
        </a:defRPr>
      </a:lvl1pPr>
      <a:lvl2pPr marL="0" marR="0" indent="4572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rial"/>
        </a:defRPr>
      </a:lvl2pPr>
      <a:lvl3pPr marL="0" marR="0" indent="9144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rial"/>
        </a:defRPr>
      </a:lvl3pPr>
      <a:lvl4pPr marL="0" marR="0" indent="13716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rial"/>
        </a:defRPr>
      </a:lvl4pPr>
      <a:lvl5pPr marL="0" marR="0" indent="18288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rial"/>
        </a:defRPr>
      </a:lvl5pPr>
      <a:lvl6pPr marL="0" marR="0" indent="22860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rial"/>
        </a:defRPr>
      </a:lvl6pPr>
      <a:lvl7pPr marL="0" marR="0" indent="27432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rial"/>
        </a:defRPr>
      </a:lvl7pPr>
      <a:lvl8pPr marL="0" marR="0" indent="32004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rial"/>
        </a:defRPr>
      </a:lvl8pPr>
      <a:lvl9pPr marL="0" marR="0" indent="36576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6" name="object 28"/>
          <p:cNvSpPr txBox="1"/>
          <p:nvPr/>
        </p:nvSpPr>
        <p:spPr>
          <a:xfrm>
            <a:off x="1173125" y="1661303"/>
            <a:ext cx="6934201" cy="12482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indent="223520" algn="ctr">
              <a:defRPr b="1" sz="4400"/>
            </a:lvl1pPr>
          </a:lstStyle>
          <a:p>
            <a:pPr/>
            <a:r>
              <a:t>Audio ML: Urban Soundscape Classification</a:t>
            </a:r>
          </a:p>
        </p:txBody>
      </p:sp>
      <p:sp>
        <p:nvSpPr>
          <p:cNvPr id="27" name="object 20"/>
          <p:cNvSpPr txBox="1"/>
          <p:nvPr/>
        </p:nvSpPr>
        <p:spPr>
          <a:xfrm>
            <a:off x="323377" y="4341372"/>
            <a:ext cx="6873949" cy="149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12700">
              <a:spcBef>
                <a:spcPts val="800"/>
              </a:spcBef>
              <a:defRPr b="1">
                <a:solidFill>
                  <a:srgbClr val="0000CC"/>
                </a:solidFill>
                <a:latin typeface="Verdana"/>
                <a:ea typeface="Verdana"/>
                <a:cs typeface="Verdana"/>
                <a:sym typeface="Verdana"/>
              </a:defRPr>
            </a:pPr>
            <a:r>
              <a:t>Submitted</a:t>
            </a:r>
            <a:r>
              <a:rPr spc="-55"/>
              <a:t> </a:t>
            </a:r>
            <a:r>
              <a:rPr spc="-25"/>
              <a:t>By</a:t>
            </a:r>
            <a:r>
              <a:rPr spc="-25"/>
              <a:t> :</a:t>
            </a:r>
          </a:p>
          <a:p>
            <a:pPr indent="12700">
              <a:spcBef>
                <a:spcPts val="600"/>
              </a:spcBef>
              <a:defRPr sz="1500">
                <a:latin typeface="Verdana"/>
                <a:ea typeface="Verdana"/>
                <a:cs typeface="Verdana"/>
                <a:sym typeface="Verdana"/>
              </a:defRPr>
            </a:pPr>
            <a:r>
              <a:t>Biswaranjan Chakra (CSE-A2, SIC:- 23BCSE94, Roll no.:- 04)</a:t>
            </a:r>
          </a:p>
          <a:p>
            <a:pPr indent="12700">
              <a:spcBef>
                <a:spcPts val="600"/>
              </a:spcBef>
              <a:defRPr sz="1500">
                <a:latin typeface="Verdana"/>
                <a:ea typeface="Verdana"/>
                <a:cs typeface="Verdana"/>
                <a:sym typeface="Verdana"/>
              </a:defRPr>
            </a:pPr>
            <a:r>
              <a:t>Debi Prasad Dhal (CSE-A2, SIC:- 23BCSB44, Roll no.:- 17)</a:t>
            </a:r>
          </a:p>
          <a:p>
            <a:pPr indent="12700">
              <a:spcBef>
                <a:spcPts val="600"/>
              </a:spcBef>
              <a:defRPr sz="1500">
                <a:latin typeface="Verdana"/>
                <a:ea typeface="Verdana"/>
                <a:cs typeface="Verdana"/>
                <a:sym typeface="Verdana"/>
              </a:defRPr>
            </a:pPr>
            <a:r>
              <a:t>Asim Anshuman Sahoo (CSE-A1, SIC:- 23BCSF93, Roll no.:- 19)</a:t>
            </a:r>
          </a:p>
          <a:p>
            <a:pPr indent="12700">
              <a:spcBef>
                <a:spcPts val="600"/>
              </a:spcBef>
              <a:defRPr sz="1500">
                <a:latin typeface="Verdana"/>
                <a:ea typeface="Verdana"/>
                <a:cs typeface="Verdana"/>
                <a:sym typeface="Verdana"/>
              </a:defRPr>
            </a:pPr>
            <a:r>
              <a:t>Satyam Das (CSE-A1, SIC:- 23BCSF75, Roll no.:- 22)</a:t>
            </a:r>
          </a:p>
        </p:txBody>
      </p:sp>
      <p:sp>
        <p:nvSpPr>
          <p:cNvPr id="28" name="TextBox 1"/>
          <p:cNvSpPr txBox="1"/>
          <p:nvPr>
            <p:ph type="sldNum" sz="quarter" idx="2"/>
          </p:nvPr>
        </p:nvSpPr>
        <p:spPr>
          <a:xfrm>
            <a:off x="8376795" y="6505647"/>
            <a:ext cx="220004" cy="333088"/>
          </a:xfrm>
          <a:prstGeom prst="rect">
            <a:avLst/>
          </a:prstGeom>
          <a:extLst>
            <a:ext uri="{C572A759-6A51-4108-AA02-DFA0A04FC94B}">
              <ma14:wrappingTextBoxFlag xmlns:ma14="http://schemas.microsoft.com/office/mac/drawingml/2011/main" val="1"/>
            </a:ext>
          </a:extLst>
        </p:spPr>
        <p:txBody>
          <a:bodyPr/>
          <a:lstStyle>
            <a:lvl1pPr>
              <a:defRPr>
                <a:latin typeface="+mn-lt"/>
                <a:ea typeface="+mn-ea"/>
                <a:cs typeface="+mn-cs"/>
                <a:sym typeface="Calibri"/>
              </a:defRPr>
            </a:lvl1p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0" name="Introduction"/>
          <p:cNvSpPr txBox="1"/>
          <p:nvPr>
            <p:ph type="title" idx="4294967295"/>
          </p:nvPr>
        </p:nvSpPr>
        <p:spPr>
          <a:xfrm>
            <a:off x="381343" y="-42477"/>
            <a:ext cx="4207191" cy="870766"/>
          </a:xfrm>
          <a:prstGeom prst="rect">
            <a:avLst/>
          </a:prstGeom>
        </p:spPr>
        <p:txBody>
          <a:bodyPr/>
          <a:lstStyle>
            <a:lvl1pPr marL="342900" indent="-342900" algn="l">
              <a:buSzPct val="100000"/>
              <a:buChar char="➡"/>
              <a:defRPr sz="2800">
                <a:latin typeface="Comic Sans MS"/>
                <a:ea typeface="Comic Sans MS"/>
                <a:cs typeface="Comic Sans MS"/>
                <a:sym typeface="Comic Sans MS"/>
              </a:defRPr>
            </a:lvl1pPr>
          </a:lstStyle>
          <a:p>
            <a:pPr/>
            <a:r>
              <a:t>Introduction</a:t>
            </a:r>
          </a:p>
        </p:txBody>
      </p:sp>
      <p:sp>
        <p:nvSpPr>
          <p:cNvPr id="31" name="Urban areas produce a wide range of environmental sounds — from traffic and construction to human activities.…"/>
          <p:cNvSpPr txBox="1"/>
          <p:nvPr>
            <p:ph type="body" idx="4294967295"/>
          </p:nvPr>
        </p:nvSpPr>
        <p:spPr>
          <a:xfrm>
            <a:off x="370721" y="1487319"/>
            <a:ext cx="8229601" cy="5257801"/>
          </a:xfrm>
          <a:prstGeom prst="rect">
            <a:avLst/>
          </a:prstGeom>
        </p:spPr>
        <p:txBody>
          <a:bodyPr/>
          <a:lstStyle/>
          <a:p>
            <a:pPr marL="190500" indent="-190500" algn="just" defTabSz="457200">
              <a:spcBef>
                <a:spcPts val="0"/>
              </a:spcBef>
              <a:buFontTx/>
              <a:defRPr sz="1800">
                <a:latin typeface="+mj-lt"/>
                <a:ea typeface="+mj-ea"/>
                <a:cs typeface="+mj-cs"/>
                <a:sym typeface="Helvetica"/>
              </a:defRPr>
            </a:pPr>
            <a:r>
              <a:t>Urban areas produce a wide range of environmental sounds — from traffic and construction to human activities. </a:t>
            </a:r>
          </a:p>
          <a:p>
            <a:pPr marL="190500" indent="-190500" algn="just" defTabSz="457200">
              <a:spcBef>
                <a:spcPts val="0"/>
              </a:spcBef>
              <a:buFontTx/>
              <a:defRPr sz="1800">
                <a:latin typeface="+mj-lt"/>
                <a:ea typeface="+mj-ea"/>
                <a:cs typeface="+mj-cs"/>
                <a:sym typeface="Helvetica"/>
              </a:defRPr>
            </a:pPr>
          </a:p>
          <a:p>
            <a:pPr marL="190500" indent="-190500" algn="just" defTabSz="457200">
              <a:spcBef>
                <a:spcPts val="0"/>
              </a:spcBef>
              <a:buFontTx/>
              <a:defRPr sz="1800">
                <a:latin typeface="+mj-lt"/>
                <a:ea typeface="+mj-ea"/>
                <a:cs typeface="+mj-cs"/>
                <a:sym typeface="Helvetica"/>
              </a:defRPr>
            </a:pPr>
            <a:r>
              <a:t>Recognizing and understanding these sound patterns is crucial for developing </a:t>
            </a:r>
            <a:r>
              <a:rPr b="1"/>
              <a:t>smart city applications</a:t>
            </a:r>
            <a:r>
              <a:t>, </a:t>
            </a:r>
            <a:r>
              <a:rPr b="1"/>
              <a:t>noise pollution management</a:t>
            </a:r>
            <a:r>
              <a:t>, and </a:t>
            </a:r>
            <a:r>
              <a:rPr b="1"/>
              <a:t>urban monitoring systems</a:t>
            </a:r>
            <a:r>
              <a:t>.</a:t>
            </a:r>
          </a:p>
          <a:p>
            <a:pPr marL="190500" indent="-190500" algn="just" defTabSz="457200">
              <a:spcBef>
                <a:spcPts val="0"/>
              </a:spcBef>
              <a:buFontTx/>
              <a:defRPr sz="1800">
                <a:latin typeface="+mj-lt"/>
                <a:ea typeface="+mj-ea"/>
                <a:cs typeface="+mj-cs"/>
                <a:sym typeface="Helvetica"/>
              </a:defRPr>
            </a:pPr>
          </a:p>
          <a:p>
            <a:pPr marL="190500" indent="-190500" algn="just" defTabSz="457200">
              <a:spcBef>
                <a:spcPts val="0"/>
              </a:spcBef>
              <a:buFontTx/>
              <a:defRPr sz="1800">
                <a:latin typeface="+mj-lt"/>
                <a:ea typeface="+mj-ea"/>
                <a:cs typeface="+mj-cs"/>
                <a:sym typeface="Helvetica"/>
              </a:defRPr>
            </a:pPr>
            <a:r>
              <a:t>The project </a:t>
            </a:r>
            <a:r>
              <a:rPr b="1"/>
              <a:t>“Audio ML: Urban Soundscape Classification”</a:t>
            </a:r>
            <a:r>
              <a:t> aims to build an </a:t>
            </a:r>
            <a:r>
              <a:rPr b="1"/>
              <a:t>intelligent machine learning model</a:t>
            </a:r>
            <a:r>
              <a:t> capable of identifying and categorizing different urban sounds automatically.</a:t>
            </a:r>
          </a:p>
        </p:txBody>
      </p:sp>
      <p:sp>
        <p:nvSpPr>
          <p:cNvPr id="32" name="Slide Number"/>
          <p:cNvSpPr txBox="1"/>
          <p:nvPr>
            <p:ph type="sldNum" sz="quarter" idx="2"/>
          </p:nvPr>
        </p:nvSpPr>
        <p:spPr>
          <a:xfrm>
            <a:off x="8371158" y="6488112"/>
            <a:ext cx="231278" cy="350663"/>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4" name="Slide Number"/>
          <p:cNvSpPr txBox="1"/>
          <p:nvPr>
            <p:ph type="sldNum" sz="quarter" idx="2"/>
          </p:nvPr>
        </p:nvSpPr>
        <p:spPr>
          <a:xfrm>
            <a:off x="8371158" y="6475412"/>
            <a:ext cx="231278" cy="350663"/>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5" name="Background of the Study"/>
          <p:cNvSpPr txBox="1"/>
          <p:nvPr>
            <p:ph type="title" idx="4294967295"/>
          </p:nvPr>
        </p:nvSpPr>
        <p:spPr>
          <a:xfrm>
            <a:off x="382403" y="-225846"/>
            <a:ext cx="6151336" cy="1237504"/>
          </a:xfrm>
          <a:prstGeom prst="rect">
            <a:avLst/>
          </a:prstGeom>
        </p:spPr>
        <p:txBody>
          <a:bodyPr/>
          <a:lstStyle>
            <a:lvl1pPr marL="342900" indent="-342900" algn="l">
              <a:buSzPct val="100000"/>
              <a:buFont typeface="Arial"/>
              <a:buChar char="➡"/>
              <a:defRPr sz="2800">
                <a:latin typeface="Comic Sans MS"/>
                <a:ea typeface="Comic Sans MS"/>
                <a:cs typeface="Comic Sans MS"/>
                <a:sym typeface="Comic Sans MS"/>
              </a:defRPr>
            </a:lvl1pPr>
          </a:lstStyle>
          <a:p>
            <a:pPr/>
            <a:r>
              <a:t>Background of the Study</a:t>
            </a:r>
          </a:p>
        </p:txBody>
      </p:sp>
      <p:graphicFrame>
        <p:nvGraphicFramePr>
          <p:cNvPr id="36" name="Table 1"/>
          <p:cNvGraphicFramePr/>
          <p:nvPr/>
        </p:nvGraphicFramePr>
        <p:xfrm>
          <a:off x="291262" y="1203643"/>
          <a:ext cx="8574176" cy="4919027"/>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2023021"/>
                <a:gridCol w="2418478"/>
                <a:gridCol w="1605899"/>
                <a:gridCol w="2514075"/>
              </a:tblGrid>
              <a:tr h="563633">
                <a:tc>
                  <a:txBody>
                    <a:bodyPr/>
                    <a:lstStyle/>
                    <a:p>
                      <a:pPr algn="ctr" defTabSz="457200"/>
                      <a:r>
                        <a:rPr b="1" sz="1400">
                          <a:latin typeface="+mj-lt"/>
                          <a:ea typeface="+mj-ea"/>
                          <a:cs typeface="+mj-cs"/>
                          <a:sym typeface="Helvetica"/>
                        </a:rPr>
                        <a:t>Reference (Year)</a:t>
                      </a:r>
                    </a:p>
                  </a:txBody>
                  <a:tcPr marL="12700" marR="12700" marT="12700" marB="12700" anchor="ctr" anchorCtr="0" horzOverflow="overflow">
                    <a:lnL w="0">
                      <a:miter lim="400000"/>
                    </a:lnL>
                    <a:lnR w="12700">
                      <a:miter lim="400000"/>
                    </a:lnR>
                    <a:lnT w="0">
                      <a:miter lim="400000"/>
                    </a:lnT>
                    <a:lnB w="12700">
                      <a:miter lim="400000"/>
                    </a:lnB>
                    <a:noFill/>
                  </a:tcPr>
                </a:tc>
                <a:tc>
                  <a:txBody>
                    <a:bodyPr/>
                    <a:lstStyle/>
                    <a:p>
                      <a:pPr algn="ctr" defTabSz="457200"/>
                      <a:r>
                        <a:rPr b="1" sz="1400">
                          <a:latin typeface="+mj-lt"/>
                          <a:ea typeface="+mj-ea"/>
                          <a:cs typeface="+mj-cs"/>
                          <a:sym typeface="Helvetica"/>
                        </a:rPr>
                        <a:t>Background Study</a:t>
                      </a:r>
                    </a:p>
                  </a:txBody>
                  <a:tcPr marL="12700" marR="12700" marT="12700" marB="12700" anchor="ctr" anchorCtr="0" horzOverflow="overflow">
                    <a:lnL w="12700">
                      <a:miter lim="400000"/>
                    </a:lnL>
                    <a:lnR w="12700">
                      <a:miter lim="400000"/>
                    </a:lnR>
                    <a:lnT w="0">
                      <a:miter lim="400000"/>
                    </a:lnT>
                    <a:lnB w="12700">
                      <a:miter lim="400000"/>
                    </a:lnB>
                    <a:noFill/>
                  </a:tcPr>
                </a:tc>
                <a:tc>
                  <a:txBody>
                    <a:bodyPr/>
                    <a:lstStyle/>
                    <a:p>
                      <a:pPr algn="ctr" defTabSz="457200"/>
                      <a:r>
                        <a:rPr b="1" sz="1400">
                          <a:latin typeface="+mj-lt"/>
                          <a:ea typeface="+mj-ea"/>
                          <a:cs typeface="+mj-cs"/>
                          <a:sym typeface="Helvetica"/>
                        </a:rPr>
                        <a:t>Models Used</a:t>
                      </a:r>
                    </a:p>
                  </a:txBody>
                  <a:tcPr marL="12700" marR="12700" marT="12700" marB="12700" anchor="ctr" anchorCtr="0" horzOverflow="overflow">
                    <a:lnL w="12700">
                      <a:miter lim="400000"/>
                    </a:lnL>
                    <a:lnR w="12700">
                      <a:miter lim="400000"/>
                    </a:lnR>
                    <a:lnT w="0">
                      <a:miter lim="400000"/>
                    </a:lnT>
                    <a:lnB w="12700">
                      <a:miter lim="400000"/>
                    </a:lnB>
                    <a:noFill/>
                  </a:tcPr>
                </a:tc>
                <a:tc>
                  <a:txBody>
                    <a:bodyPr/>
                    <a:lstStyle/>
                    <a:p>
                      <a:pPr algn="ctr" defTabSz="457200"/>
                      <a:r>
                        <a:rPr b="1" sz="1400">
                          <a:latin typeface="+mj-lt"/>
                          <a:ea typeface="+mj-ea"/>
                          <a:cs typeface="+mj-cs"/>
                          <a:sym typeface="Helvetica"/>
                        </a:rPr>
                        <a:t>Shortcoming</a:t>
                      </a:r>
                    </a:p>
                  </a:txBody>
                  <a:tcPr marL="12700" marR="12700" marT="12700" marB="12700" anchor="ctr" anchorCtr="0" horzOverflow="overflow">
                    <a:lnL w="12700">
                      <a:miter lim="400000"/>
                    </a:lnL>
                    <a:lnR w="0">
                      <a:miter lim="400000"/>
                    </a:lnR>
                    <a:lnT w="0">
                      <a:miter lim="400000"/>
                    </a:lnT>
                    <a:lnB w="12700">
                      <a:miter lim="400000"/>
                    </a:lnB>
                    <a:noFill/>
                  </a:tcPr>
                </a:tc>
              </a:tr>
              <a:tr h="1447564">
                <a:tc>
                  <a:txBody>
                    <a:bodyPr/>
                    <a:lstStyle/>
                    <a:p>
                      <a:pPr defTabSz="457200"/>
                      <a:r>
                        <a:rPr b="1" sz="1400">
                          <a:latin typeface="+mj-lt"/>
                          <a:ea typeface="+mj-ea"/>
                          <a:cs typeface="+mj-cs"/>
                          <a:sym typeface="Helvetica"/>
                        </a:rPr>
                        <a:t>1. Mushtaq &amp; Su (2020)</a:t>
                      </a:r>
                    </a:p>
                  </a:txBody>
                  <a:tcPr marL="12700" marR="12700" marT="12700" marB="12700" anchor="ctr" anchorCtr="0" horzOverflow="overflow">
                    <a:lnL w="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Worked on environmental sound classification using enhanced spectrogram features.</a:t>
                      </a:r>
                    </a:p>
                  </a:txBody>
                  <a:tcPr marL="12700" marR="12700" marT="12700" marB="12700" anchor="ctr" anchorCtr="0" horzOverflow="overflow">
                    <a:lnL w="1270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Feature-based ML/DL methods.</a:t>
                      </a:r>
                    </a:p>
                  </a:txBody>
                  <a:tcPr marL="12700" marR="12700" marT="12700" marB="12700" anchor="ctr" anchorCtr="0" horzOverflow="overflow">
                    <a:lnL w="1270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Limited generalization across diverse noise environments.</a:t>
                      </a:r>
                    </a:p>
                  </a:txBody>
                  <a:tcPr marL="12700" marR="12700" marT="12700" marB="12700" anchor="ctr" anchorCtr="0" horzOverflow="overflow">
                    <a:lnL w="12700">
                      <a:miter lim="400000"/>
                    </a:lnL>
                    <a:lnR w="0">
                      <a:miter lim="400000"/>
                    </a:lnR>
                    <a:lnT w="12700">
                      <a:miter lim="400000"/>
                    </a:lnT>
                    <a:lnB w="12700">
                      <a:miter lim="400000"/>
                    </a:lnB>
                    <a:noFill/>
                  </a:tcPr>
                </a:tc>
              </a:tr>
              <a:tr h="1447564">
                <a:tc>
                  <a:txBody>
                    <a:bodyPr/>
                    <a:lstStyle/>
                    <a:p>
                      <a:pPr defTabSz="457200"/>
                      <a:r>
                        <a:rPr b="1" sz="1400">
                          <a:latin typeface="+mj-lt"/>
                          <a:ea typeface="+mj-ea"/>
                          <a:cs typeface="+mj-cs"/>
                          <a:sym typeface="Helvetica"/>
                        </a:rPr>
                        <a:t>2. Das, Chakrabarty &amp; Piran (2021)</a:t>
                      </a:r>
                    </a:p>
                  </a:txBody>
                  <a:tcPr marL="12700" marR="12700" marT="12700" marB="12700" anchor="ctr" anchorCtr="0" horzOverflow="overflow">
                    <a:lnL w="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Used CNN for environmental sound recognition with improved loss functions.</a:t>
                      </a:r>
                    </a:p>
                  </a:txBody>
                  <a:tcPr marL="12700" marR="12700" marT="12700" marB="12700" anchor="ctr" anchorCtr="0" horzOverflow="overflow">
                    <a:lnL w="1270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Convolutional Neural Network (CNN).</a:t>
                      </a:r>
                    </a:p>
                  </a:txBody>
                  <a:tcPr marL="12700" marR="12700" marT="12700" marB="12700" anchor="ctr" anchorCtr="0" horzOverflow="overflow">
                    <a:lnL w="1270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Performance drops with complex or overlapping urban sounds.</a:t>
                      </a:r>
                    </a:p>
                  </a:txBody>
                  <a:tcPr marL="12700" marR="12700" marT="12700" marB="12700" anchor="ctr" anchorCtr="0" horzOverflow="overflow">
                    <a:lnL w="12700">
                      <a:miter lim="400000"/>
                    </a:lnL>
                    <a:lnR w="0">
                      <a:miter lim="400000"/>
                    </a:lnR>
                    <a:lnT w="12700">
                      <a:miter lim="400000"/>
                    </a:lnT>
                    <a:lnB w="12700">
                      <a:miter lim="400000"/>
                    </a:lnB>
                    <a:noFill/>
                  </a:tcPr>
                </a:tc>
              </a:tr>
              <a:tr h="1447564">
                <a:tc>
                  <a:txBody>
                    <a:bodyPr/>
                    <a:lstStyle/>
                    <a:p>
                      <a:pPr defTabSz="457200"/>
                      <a:r>
                        <a:rPr b="1" sz="1400">
                          <a:latin typeface="+mj-lt"/>
                          <a:ea typeface="+mj-ea"/>
                          <a:cs typeface="+mj-cs"/>
                          <a:sym typeface="Helvetica"/>
                        </a:rPr>
                        <a:t>3. McFee et al. (2015)</a:t>
                      </a:r>
                    </a:p>
                  </a:txBody>
                  <a:tcPr marL="12700" marR="12700" marT="12700" marB="12700" anchor="ctr" anchorCtr="0" horzOverflow="overflow">
                    <a:lnL w="0">
                      <a:miter lim="400000"/>
                    </a:lnL>
                    <a:lnR w="12700">
                      <a:miter lim="400000"/>
                    </a:lnR>
                    <a:lnT w="12700">
                      <a:miter lim="400000"/>
                    </a:lnT>
                    <a:lnB w="0">
                      <a:miter lim="400000"/>
                    </a:lnB>
                    <a:noFill/>
                  </a:tcPr>
                </a:tc>
                <a:tc>
                  <a:txBody>
                    <a:bodyPr/>
                    <a:lstStyle/>
                    <a:p>
                      <a:pPr defTabSz="457200"/>
                      <a:r>
                        <a:rPr sz="1400">
                          <a:latin typeface="+mj-lt"/>
                          <a:ea typeface="+mj-ea"/>
                          <a:cs typeface="+mj-cs"/>
                          <a:sym typeface="Helvetica"/>
                        </a:rPr>
                        <a:t>Proposed a temporal–frequency attention-based CNN for sound classification.</a:t>
                      </a:r>
                    </a:p>
                  </a:txBody>
                  <a:tcPr marL="12700" marR="12700" marT="12700" marB="12700" anchor="ctr" anchorCtr="0" horzOverflow="overflow">
                    <a:lnL w="12700">
                      <a:miter lim="400000"/>
                    </a:lnL>
                    <a:lnR w="12700">
                      <a:miter lim="400000"/>
                    </a:lnR>
                    <a:lnT w="12700">
                      <a:miter lim="400000"/>
                    </a:lnT>
                    <a:lnB w="0">
                      <a:miter lim="400000"/>
                    </a:lnB>
                    <a:noFill/>
                  </a:tcPr>
                </a:tc>
                <a:tc>
                  <a:txBody>
                    <a:bodyPr/>
                    <a:lstStyle/>
                    <a:p>
                      <a:pPr defTabSz="457200"/>
                      <a:r>
                        <a:rPr sz="1400">
                          <a:latin typeface="+mj-lt"/>
                          <a:ea typeface="+mj-ea"/>
                          <a:cs typeface="+mj-cs"/>
                          <a:sym typeface="Helvetica"/>
                        </a:rPr>
                        <a:t>Attention-based CNN.</a:t>
                      </a:r>
                    </a:p>
                  </a:txBody>
                  <a:tcPr marL="12700" marR="12700" marT="12700" marB="12700" anchor="ctr" anchorCtr="0" horzOverflow="overflow">
                    <a:lnL w="12700">
                      <a:miter lim="400000"/>
                    </a:lnL>
                    <a:lnR w="12700">
                      <a:miter lim="400000"/>
                    </a:lnR>
                    <a:lnT w="12700">
                      <a:miter lim="400000"/>
                    </a:lnT>
                    <a:lnB w="0">
                      <a:miter lim="400000"/>
                    </a:lnB>
                    <a:noFill/>
                  </a:tcPr>
                </a:tc>
                <a:tc>
                  <a:txBody>
                    <a:bodyPr/>
                    <a:lstStyle/>
                    <a:p>
                      <a:pPr defTabSz="457200"/>
                      <a:r>
                        <a:rPr sz="1400">
                          <a:latin typeface="+mj-lt"/>
                          <a:ea typeface="+mj-ea"/>
                          <a:cs typeface="+mj-cs"/>
                          <a:sym typeface="Helvetica"/>
                        </a:rPr>
                        <a:t>High computational cost; may not suit real-time use.</a:t>
                      </a:r>
                    </a:p>
                  </a:txBody>
                  <a:tcPr marL="12700" marR="12700" marT="12700" marB="12700" anchor="ctr" anchorCtr="0" horzOverflow="overflow">
                    <a:lnL w="12700">
                      <a:miter lim="400000"/>
                    </a:lnL>
                    <a:lnR w="0">
                      <a:miter lim="400000"/>
                    </a:lnR>
                    <a:lnT w="12700">
                      <a:miter lim="400000"/>
                    </a:lnT>
                    <a:lnB w="0">
                      <a:miter lim="400000"/>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8" name="Slide Number"/>
          <p:cNvSpPr txBox="1"/>
          <p:nvPr>
            <p:ph type="sldNum" sz="quarter" idx="2"/>
          </p:nvPr>
        </p:nvSpPr>
        <p:spPr>
          <a:xfrm>
            <a:off x="8371158" y="6470578"/>
            <a:ext cx="231278" cy="350663"/>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9" name="Problem Statement"/>
          <p:cNvSpPr txBox="1"/>
          <p:nvPr>
            <p:ph type="title" idx="4294967295"/>
          </p:nvPr>
        </p:nvSpPr>
        <p:spPr>
          <a:xfrm>
            <a:off x="410421" y="19325"/>
            <a:ext cx="4043830" cy="747162"/>
          </a:xfrm>
          <a:prstGeom prst="rect">
            <a:avLst/>
          </a:prstGeom>
        </p:spPr>
        <p:txBody>
          <a:bodyPr/>
          <a:lstStyle>
            <a:lvl1pPr marL="342900" indent="-342900" algn="l">
              <a:buSzPct val="100000"/>
              <a:buFont typeface="Arial"/>
              <a:buChar char="➡"/>
              <a:defRPr sz="2800">
                <a:latin typeface="Comic Sans MS"/>
                <a:ea typeface="Comic Sans MS"/>
                <a:cs typeface="Comic Sans MS"/>
                <a:sym typeface="Comic Sans MS"/>
              </a:defRPr>
            </a:lvl1pPr>
          </a:lstStyle>
          <a:p>
            <a:pPr/>
            <a:r>
              <a:t>Problem Statement</a:t>
            </a:r>
          </a:p>
        </p:txBody>
      </p:sp>
      <p:sp>
        <p:nvSpPr>
          <p:cNvPr id="40" name="Urban noise levels are rising quickly due to traffic, construction, and dense population activities. As cities continue to grow, the need to understand and manage these diverse sound environments has become more important than ever.…"/>
          <p:cNvSpPr txBox="1"/>
          <p:nvPr>
            <p:ph type="body" idx="4294967295"/>
          </p:nvPr>
        </p:nvSpPr>
        <p:spPr>
          <a:xfrm>
            <a:off x="317987" y="1312527"/>
            <a:ext cx="8508026" cy="4644109"/>
          </a:xfrm>
          <a:prstGeom prst="rect">
            <a:avLst/>
          </a:prstGeom>
        </p:spPr>
        <p:txBody>
          <a:bodyPr/>
          <a:lstStyle/>
          <a:p>
            <a:pPr marL="120315" indent="-120315" algn="just" defTabSz="457200">
              <a:lnSpc>
                <a:spcPct val="120000"/>
              </a:lnSpc>
              <a:spcBef>
                <a:spcPts val="1200"/>
              </a:spcBef>
              <a:buFontTx/>
              <a:defRPr sz="1700">
                <a:latin typeface="+mj-lt"/>
                <a:ea typeface="+mj-ea"/>
                <a:cs typeface="+mj-cs"/>
                <a:sym typeface="Helvetica"/>
              </a:defRPr>
            </a:pPr>
            <a:r>
              <a:t>Urban noise levels are rising quickly due to traffic, construction, and dense population activities. As cities continue to grow, the need to understand and manage these diverse sound environments has become more important than ever.</a:t>
            </a:r>
          </a:p>
          <a:p>
            <a:pPr marL="120315" indent="-120315" algn="just" defTabSz="457200">
              <a:lnSpc>
                <a:spcPct val="120000"/>
              </a:lnSpc>
              <a:spcBef>
                <a:spcPts val="1200"/>
              </a:spcBef>
              <a:buFontTx/>
              <a:defRPr sz="1700">
                <a:latin typeface="+mj-lt"/>
                <a:ea typeface="+mj-ea"/>
                <a:cs typeface="+mj-cs"/>
                <a:sym typeface="Helvetica"/>
              </a:defRPr>
            </a:pPr>
            <a:r>
              <a:t>Traditional methods of identifying sound sources rely heavily on manual monitoring, which is time-consuming, inconsistent, and not scalable for large urban areas. Existing systems also lack smart, automated capabilities to classify different types of sounds accurately.</a:t>
            </a:r>
          </a:p>
          <a:p>
            <a:pPr marL="120315" indent="-120315" algn="just" defTabSz="457200">
              <a:lnSpc>
                <a:spcPct val="120000"/>
              </a:lnSpc>
              <a:spcBef>
                <a:spcPts val="1200"/>
              </a:spcBef>
              <a:buFontTx/>
              <a:defRPr sz="1700">
                <a:latin typeface="+mj-lt"/>
                <a:ea typeface="+mj-ea"/>
                <a:cs typeface="+mj-cs"/>
                <a:sym typeface="Helvetica"/>
              </a:defRPr>
            </a:pPr>
            <a:r>
              <a:t>To address these gaps, machine learning and deep learning–based solutions are essential. They enable </a:t>
            </a:r>
            <a:r>
              <a:rPr b="1"/>
              <a:t>real-time, automated, and highly accurate recognition of urban sound events</a:t>
            </a:r>
            <a:r>
              <a:t>, ensuring consistent monitoring and improved decision-making for smart city applications.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2" name="Objective"/>
          <p:cNvSpPr txBox="1"/>
          <p:nvPr>
            <p:ph type="title" idx="4294967295"/>
          </p:nvPr>
        </p:nvSpPr>
        <p:spPr>
          <a:xfrm>
            <a:off x="387726" y="92074"/>
            <a:ext cx="2978202" cy="601664"/>
          </a:xfrm>
          <a:prstGeom prst="rect">
            <a:avLst/>
          </a:prstGeom>
        </p:spPr>
        <p:txBody>
          <a:bodyPr/>
          <a:lstStyle>
            <a:lvl1pPr marL="342900" indent="-342900" algn="l">
              <a:buSzPct val="100000"/>
              <a:buFont typeface="Arial"/>
              <a:buChar char="➡"/>
              <a:defRPr sz="2800">
                <a:latin typeface="Comic Sans MS"/>
                <a:ea typeface="Comic Sans MS"/>
                <a:cs typeface="Comic Sans MS"/>
                <a:sym typeface="Comic Sans MS"/>
              </a:defRPr>
            </a:lvl1pPr>
          </a:lstStyle>
          <a:p>
            <a:pPr/>
            <a:r>
              <a:t>Objective</a:t>
            </a:r>
          </a:p>
        </p:txBody>
      </p:sp>
      <p:graphicFrame>
        <p:nvGraphicFramePr>
          <p:cNvPr id="43" name="Table 1"/>
          <p:cNvGraphicFramePr/>
          <p:nvPr/>
        </p:nvGraphicFramePr>
        <p:xfrm>
          <a:off x="256588" y="858079"/>
          <a:ext cx="8630824" cy="4458501"/>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632548"/>
                <a:gridCol w="7998275"/>
              </a:tblGrid>
              <a:tr h="830459">
                <a:tc>
                  <a:txBody>
                    <a:bodyPr/>
                    <a:lstStyle/>
                    <a:p>
                      <a:pPr algn="ctr" defTabSz="457200"/>
                      <a:r>
                        <a:rPr b="1" sz="1400">
                          <a:latin typeface="+mj-lt"/>
                          <a:ea typeface="+mj-ea"/>
                          <a:cs typeface="+mj-cs"/>
                          <a:sym typeface="Helvetica"/>
                        </a:rPr>
                        <a:t>Sl. 
No.</a:t>
                      </a:r>
                    </a:p>
                  </a:txBody>
                  <a:tcPr marL="12700" marR="12700" marT="12700" marB="12700" anchor="ctr" anchorCtr="0" horzOverflow="overflow">
                    <a:lnL w="0">
                      <a:miter lim="400000"/>
                    </a:lnL>
                    <a:lnR w="12700">
                      <a:miter lim="400000"/>
                    </a:lnR>
                    <a:lnT w="0">
                      <a:miter lim="400000"/>
                    </a:lnT>
                    <a:lnB w="12700">
                      <a:miter lim="400000"/>
                    </a:lnB>
                    <a:noFill/>
                  </a:tcPr>
                </a:tc>
                <a:tc>
                  <a:txBody>
                    <a:bodyPr/>
                    <a:lstStyle/>
                    <a:p>
                      <a:pPr algn="ctr" defTabSz="457200"/>
                      <a:r>
                        <a:rPr b="1" sz="1400">
                          <a:latin typeface="+mj-lt"/>
                          <a:ea typeface="+mj-ea"/>
                          <a:cs typeface="+mj-cs"/>
                          <a:sym typeface="Helvetica"/>
                        </a:rPr>
                        <a:t>Objective Description</a:t>
                      </a:r>
                    </a:p>
                  </a:txBody>
                  <a:tcPr marL="12700" marR="12700" marT="12700" marB="12700" anchor="ctr" anchorCtr="0" horzOverflow="overflow">
                    <a:lnL w="12700">
                      <a:miter lim="400000"/>
                    </a:lnL>
                    <a:lnR w="0">
                      <a:miter lim="400000"/>
                    </a:lnR>
                    <a:lnT w="0">
                      <a:miter lim="400000"/>
                    </a:lnT>
                    <a:lnB w="12700">
                      <a:miter lim="400000"/>
                    </a:lnB>
                    <a:noFill/>
                  </a:tcPr>
                </a:tc>
              </a:tr>
              <a:tr h="834141">
                <a:tc>
                  <a:txBody>
                    <a:bodyPr/>
                    <a:lstStyle/>
                    <a:p>
                      <a:pPr algn="ctr" defTabSz="457200"/>
                      <a:r>
                        <a:rPr sz="1600">
                          <a:latin typeface="+mj-lt"/>
                          <a:ea typeface="+mj-ea"/>
                          <a:cs typeface="+mj-cs"/>
                          <a:sym typeface="Helvetica"/>
                        </a:rPr>
                        <a:t>1</a:t>
                      </a:r>
                    </a:p>
                  </a:txBody>
                  <a:tcPr marL="12700" marR="12700" marT="12700" marB="12700" anchor="ctr" anchorCtr="0" horzOverflow="overflow">
                    <a:lnL w="0">
                      <a:miter lim="400000"/>
                    </a:lnL>
                    <a:lnR w="12700">
                      <a:miter lim="400000"/>
                    </a:lnR>
                    <a:lnT w="12700">
                      <a:miter lim="400000"/>
                    </a:lnT>
                    <a:lnB w="12700">
                      <a:miter lim="400000"/>
                    </a:lnB>
                    <a:noFill/>
                  </a:tcPr>
                </a:tc>
                <a:tc>
                  <a:txBody>
                    <a:bodyPr/>
                    <a:lstStyle/>
                    <a:p>
                      <a:pPr algn="just" defTabSz="457200">
                        <a:spcBef>
                          <a:spcPts val="1200"/>
                        </a:spcBef>
                      </a:pPr>
                      <a:r>
                        <a:rPr sz="1600">
                          <a:latin typeface="+mj-lt"/>
                          <a:ea typeface="+mj-ea"/>
                          <a:cs typeface="+mj-cs"/>
                          <a:sym typeface="Helvetica"/>
                        </a:rPr>
                        <a:t>Develop a system that classifies urban environmental sounds automatically.</a:t>
                      </a:r>
                    </a:p>
                  </a:txBody>
                  <a:tcPr marL="12700" marR="12700" marT="12700" marB="12700" anchor="ctr" anchorCtr="0" horzOverflow="overflow">
                    <a:lnL w="12700">
                      <a:miter lim="400000"/>
                    </a:lnL>
                    <a:lnR w="0">
                      <a:miter lim="400000"/>
                    </a:lnR>
                    <a:lnT w="12700">
                      <a:miter lim="400000"/>
                    </a:lnT>
                    <a:lnB w="12700">
                      <a:miter lim="400000"/>
                    </a:lnB>
                    <a:noFill/>
                  </a:tcPr>
                </a:tc>
              </a:tr>
              <a:tr h="1125615">
                <a:tc>
                  <a:txBody>
                    <a:bodyPr/>
                    <a:lstStyle/>
                    <a:p>
                      <a:pPr algn="ctr" defTabSz="457200"/>
                      <a:r>
                        <a:rPr sz="1600">
                          <a:latin typeface="+mj-lt"/>
                          <a:ea typeface="+mj-ea"/>
                          <a:cs typeface="+mj-cs"/>
                          <a:sym typeface="Helvetica"/>
                        </a:rPr>
                        <a:t>2</a:t>
                      </a:r>
                    </a:p>
                  </a:txBody>
                  <a:tcPr marL="12700" marR="12700" marT="12700" marB="12700" anchor="ctr" anchorCtr="0" horzOverflow="overflow">
                    <a:lnL w="0">
                      <a:miter lim="400000"/>
                    </a:lnL>
                    <a:lnR w="12700">
                      <a:miter lim="400000"/>
                    </a:lnR>
                    <a:lnT w="12700">
                      <a:miter lim="400000"/>
                    </a:lnT>
                    <a:lnB w="12700">
                      <a:miter lim="400000"/>
                    </a:lnB>
                    <a:noFill/>
                  </a:tcPr>
                </a:tc>
                <a:tc>
                  <a:txBody>
                    <a:bodyPr/>
                    <a:lstStyle/>
                    <a:p>
                      <a:pPr algn="just" defTabSz="457200">
                        <a:defRPr sz="1600">
                          <a:latin typeface="+mj-lt"/>
                          <a:ea typeface="+mj-ea"/>
                          <a:cs typeface="+mj-cs"/>
                          <a:sym typeface="Helvetica"/>
                        </a:defRPr>
                      </a:pPr>
                      <a:r>
                        <a:t>To preprocess and extract meaningful features from raw audio using Python libraries such as </a:t>
                      </a:r>
                      <a:r>
                        <a:rPr b="1"/>
                        <a:t>Librosa.</a:t>
                      </a:r>
                    </a:p>
                  </a:txBody>
                  <a:tcPr marL="12700" marR="12700" marT="12700" marB="12700" anchor="ctr" anchorCtr="0" horzOverflow="overflow">
                    <a:lnL w="12700">
                      <a:miter lim="400000"/>
                    </a:lnL>
                    <a:lnR w="0">
                      <a:miter lim="400000"/>
                    </a:lnR>
                    <a:lnT w="12700">
                      <a:miter lim="400000"/>
                    </a:lnT>
                    <a:lnB w="12700">
                      <a:miter lim="400000"/>
                    </a:lnB>
                    <a:noFill/>
                  </a:tcPr>
                </a:tc>
              </a:tr>
              <a:tr h="834141">
                <a:tc>
                  <a:txBody>
                    <a:bodyPr/>
                    <a:lstStyle/>
                    <a:p>
                      <a:pPr algn="ctr" defTabSz="457200"/>
                      <a:r>
                        <a:rPr sz="1600">
                          <a:latin typeface="+mj-lt"/>
                          <a:ea typeface="+mj-ea"/>
                          <a:cs typeface="+mj-cs"/>
                          <a:sym typeface="Helvetica"/>
                        </a:rPr>
                        <a:t>3</a:t>
                      </a:r>
                    </a:p>
                  </a:txBody>
                  <a:tcPr marL="12700" marR="12700" marT="12700" marB="12700" anchor="ctr" anchorCtr="0" horzOverflow="overflow">
                    <a:lnL w="0">
                      <a:miter lim="400000"/>
                    </a:lnL>
                    <a:lnR w="12700">
                      <a:miter lim="400000"/>
                    </a:lnR>
                    <a:lnT w="12700">
                      <a:miter lim="400000"/>
                    </a:lnT>
                    <a:lnB w="12700">
                      <a:miter lim="400000"/>
                    </a:lnB>
                    <a:noFill/>
                  </a:tcPr>
                </a:tc>
                <a:tc>
                  <a:txBody>
                    <a:bodyPr/>
                    <a:lstStyle/>
                    <a:p>
                      <a:pPr algn="just" defTabSz="457200">
                        <a:defRPr sz="1600">
                          <a:latin typeface="+mj-lt"/>
                          <a:ea typeface="+mj-ea"/>
                          <a:cs typeface="+mj-cs"/>
                          <a:sym typeface="Helvetica"/>
                        </a:defRPr>
                      </a:pPr>
                      <a:r>
                        <a:t>To train and evaluate classification models using frameworks like </a:t>
                      </a:r>
                      <a:r>
                        <a:rPr b="1"/>
                        <a:t>Keras</a:t>
                      </a:r>
                      <a:r>
                        <a:t> and </a:t>
                      </a:r>
                      <a:r>
                        <a:rPr b="1"/>
                        <a:t>PyTorch</a:t>
                      </a:r>
                      <a:r>
                        <a:t>.</a:t>
                      </a:r>
                    </a:p>
                  </a:txBody>
                  <a:tcPr marL="12700" marR="12700" marT="12700" marB="12700" anchor="ctr" anchorCtr="0" horzOverflow="overflow">
                    <a:lnL w="12700">
                      <a:miter lim="400000"/>
                    </a:lnL>
                    <a:lnR w="0">
                      <a:miter lim="400000"/>
                    </a:lnR>
                    <a:lnT w="12700">
                      <a:miter lim="400000"/>
                    </a:lnT>
                    <a:lnB w="12700">
                      <a:miter lim="400000"/>
                    </a:lnB>
                    <a:noFill/>
                  </a:tcPr>
                </a:tc>
              </a:tr>
              <a:tr h="834141">
                <a:tc>
                  <a:txBody>
                    <a:bodyPr/>
                    <a:lstStyle/>
                    <a:p>
                      <a:pPr algn="ctr" defTabSz="457200"/>
                      <a:r>
                        <a:rPr sz="1600">
                          <a:latin typeface="+mj-lt"/>
                          <a:ea typeface="+mj-ea"/>
                          <a:cs typeface="+mj-cs"/>
                          <a:sym typeface="Helvetica"/>
                        </a:rPr>
                        <a:t>4</a:t>
                      </a:r>
                    </a:p>
                  </a:txBody>
                  <a:tcPr marL="12700" marR="12700" marT="12700" marB="12700" anchor="ctr" anchorCtr="0" horzOverflow="overflow">
                    <a:lnL w="0">
                      <a:miter lim="400000"/>
                    </a:lnL>
                    <a:lnR w="12700">
                      <a:miter lim="400000"/>
                    </a:lnR>
                    <a:lnT w="12700">
                      <a:miter lim="400000"/>
                    </a:lnT>
                    <a:lnB w="0">
                      <a:miter lim="400000"/>
                    </a:lnB>
                    <a:noFill/>
                  </a:tcPr>
                </a:tc>
                <a:tc>
                  <a:txBody>
                    <a:bodyPr/>
                    <a:lstStyle/>
                    <a:p>
                      <a:pPr algn="just" defTabSz="457200">
                        <a:spcBef>
                          <a:spcPts val="1200"/>
                        </a:spcBef>
                        <a:defRPr sz="1600">
                          <a:latin typeface="+mj-lt"/>
                          <a:ea typeface="+mj-ea"/>
                          <a:cs typeface="+mj-cs"/>
                          <a:sym typeface="Helvetica"/>
                        </a:defRPr>
                      </a:pPr>
                      <a:r>
                        <a:t>Implement and compare </a:t>
                      </a:r>
                      <a:r>
                        <a:rPr b="1"/>
                        <a:t>ANN</a:t>
                      </a:r>
                      <a:r>
                        <a:t> and </a:t>
                      </a:r>
                      <a:r>
                        <a:rPr b="1"/>
                        <a:t>CNN</a:t>
                      </a:r>
                      <a:r>
                        <a:t> models. Extract meaningful acoustic features using MFCCs and spectrograms.</a:t>
                      </a:r>
                    </a:p>
                  </a:txBody>
                  <a:tcPr marL="12700" marR="12700" marT="12700" marB="12700" anchor="ctr" anchorCtr="0" horzOverflow="overflow">
                    <a:lnL w="12700">
                      <a:miter lim="400000"/>
                    </a:lnL>
                    <a:lnR w="0">
                      <a:miter lim="400000"/>
                    </a:lnR>
                    <a:lnT w="12700">
                      <a:miter lim="400000"/>
                    </a:lnT>
                    <a:lnB w="0">
                      <a:miter lim="400000"/>
                    </a:lnB>
                    <a:noFill/>
                  </a:tcPr>
                </a:tc>
              </a:tr>
              <a:tr h="834141">
                <a:tc>
                  <a:txBody>
                    <a:bodyPr/>
                    <a:lstStyle/>
                    <a:p>
                      <a:pPr algn="ctr" defTabSz="457200"/>
                      <a:r>
                        <a:rPr sz="1600">
                          <a:latin typeface="+mj-lt"/>
                          <a:ea typeface="+mj-ea"/>
                          <a:cs typeface="+mj-cs"/>
                          <a:sym typeface="Helvetica"/>
                        </a:rPr>
                        <a:t>5</a:t>
                      </a:r>
                    </a:p>
                  </a:txBody>
                  <a:tcPr marL="12700" marR="12700" marT="12700" marB="12700" anchor="ctr" anchorCtr="0" horzOverflow="overflow">
                    <a:lnL w="0">
                      <a:miter lim="400000"/>
                    </a:lnL>
                    <a:lnR w="12700">
                      <a:miter lim="400000"/>
                    </a:lnR>
                    <a:lnT w="0">
                      <a:miter lim="400000"/>
                    </a:lnT>
                    <a:lnB w="0">
                      <a:miter lim="400000"/>
                    </a:lnB>
                    <a:noFill/>
                  </a:tcPr>
                </a:tc>
                <a:tc>
                  <a:txBody>
                    <a:bodyPr/>
                    <a:lstStyle/>
                    <a:p>
                      <a:pPr algn="just" defTabSz="457200">
                        <a:defRPr sz="1600">
                          <a:latin typeface="+mj-lt"/>
                          <a:ea typeface="+mj-ea"/>
                          <a:cs typeface="+mj-cs"/>
                          <a:sym typeface="Helvetica"/>
                        </a:defRPr>
                      </a:pPr>
                      <a:r>
                        <a:t>To enable applications in </a:t>
                      </a:r>
                      <a:r>
                        <a:rPr b="1"/>
                        <a:t>noise pollution monitoring</a:t>
                      </a:r>
                      <a:r>
                        <a:t>, </a:t>
                      </a:r>
                      <a:r>
                        <a:rPr b="1"/>
                        <a:t>smart city analytics</a:t>
                      </a:r>
                      <a:r>
                        <a:t>, and </a:t>
                      </a:r>
                      <a:r>
                        <a:rPr b="1"/>
                        <a:t>urban event detection</a:t>
                      </a:r>
                      <a:r>
                        <a:t>.</a:t>
                      </a:r>
                    </a:p>
                  </a:txBody>
                  <a:tcPr marL="12700" marR="12700" marT="12700" marB="12700" anchor="ctr" anchorCtr="0" horzOverflow="overflow">
                    <a:lnL w="12700">
                      <a:miter lim="400000"/>
                    </a:lnL>
                    <a:lnR w="0">
                      <a:miter lim="400000"/>
                    </a:lnR>
                    <a:lnT w="0">
                      <a:miter lim="400000"/>
                    </a:lnT>
                    <a:lnB w="0">
                      <a:miter lim="400000"/>
                    </a:lnB>
                    <a:noFill/>
                  </a:tcPr>
                </a:tc>
              </a:tr>
            </a:tbl>
          </a:graphicData>
        </a:graphic>
      </p:graphicFrame>
      <p:sp>
        <p:nvSpPr>
          <p:cNvPr id="44" name="Slide Number"/>
          <p:cNvSpPr txBox="1"/>
          <p:nvPr>
            <p:ph type="sldNum" sz="quarter" idx="2"/>
          </p:nvPr>
        </p:nvSpPr>
        <p:spPr>
          <a:xfrm>
            <a:off x="8371158" y="6496879"/>
            <a:ext cx="231278" cy="350663"/>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6" name="Slide Number"/>
          <p:cNvSpPr txBox="1"/>
          <p:nvPr>
            <p:ph type="sldNum" sz="quarter" idx="2"/>
          </p:nvPr>
        </p:nvSpPr>
        <p:spPr>
          <a:xfrm>
            <a:off x="7696200" y="6488112"/>
            <a:ext cx="231277" cy="350663"/>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7" name="Work Flow Diagram"/>
          <p:cNvSpPr txBox="1"/>
          <p:nvPr>
            <p:ph type="title" idx="4294967295"/>
          </p:nvPr>
        </p:nvSpPr>
        <p:spPr>
          <a:xfrm>
            <a:off x="387063" y="23812"/>
            <a:ext cx="5457340" cy="738188"/>
          </a:xfrm>
          <a:prstGeom prst="rect">
            <a:avLst/>
          </a:prstGeom>
        </p:spPr>
        <p:txBody>
          <a:bodyPr/>
          <a:lstStyle>
            <a:lvl1pPr marL="342900" indent="-342900" algn="l">
              <a:buSzPct val="100000"/>
              <a:buFont typeface="Arial"/>
              <a:buChar char="➡"/>
              <a:defRPr sz="2800">
                <a:latin typeface="Comic Sans MS"/>
                <a:ea typeface="Comic Sans MS"/>
                <a:cs typeface="Comic Sans MS"/>
                <a:sym typeface="Comic Sans MS"/>
              </a:defRPr>
            </a:lvl1pPr>
          </a:lstStyle>
          <a:p>
            <a:pPr/>
            <a:r>
              <a:t>Work Flow Diagram</a:t>
            </a:r>
          </a:p>
        </p:txBody>
      </p:sp>
      <p:pic>
        <p:nvPicPr>
          <p:cNvPr id="48" name="Screenshot 2025-11-26 at 14.12.43.png" descr="Screenshot 2025-11-26 at 14.12.43.png"/>
          <p:cNvPicPr>
            <a:picLocks noChangeAspect="1"/>
          </p:cNvPicPr>
          <p:nvPr/>
        </p:nvPicPr>
        <p:blipFill>
          <a:blip r:embed="rId3">
            <a:extLst/>
          </a:blip>
          <a:stretch>
            <a:fillRect/>
          </a:stretch>
        </p:blipFill>
        <p:spPr>
          <a:xfrm>
            <a:off x="1759148" y="921147"/>
            <a:ext cx="5625863" cy="545212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Slide Number"/>
          <p:cNvSpPr txBox="1"/>
          <p:nvPr>
            <p:ph type="sldNum" sz="quarter" idx="2"/>
          </p:nvPr>
        </p:nvSpPr>
        <p:spPr>
          <a:xfrm>
            <a:off x="7696200" y="6488112"/>
            <a:ext cx="231277" cy="350663"/>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1" name="Work Flow Diagram"/>
          <p:cNvSpPr txBox="1"/>
          <p:nvPr>
            <p:ph type="title" idx="4294967295"/>
          </p:nvPr>
        </p:nvSpPr>
        <p:spPr>
          <a:xfrm>
            <a:off x="387063" y="23812"/>
            <a:ext cx="5457340" cy="738188"/>
          </a:xfrm>
          <a:prstGeom prst="rect">
            <a:avLst/>
          </a:prstGeom>
        </p:spPr>
        <p:txBody>
          <a:bodyPr/>
          <a:lstStyle>
            <a:lvl1pPr marL="342900" indent="-342900" algn="l">
              <a:buSzPct val="100000"/>
              <a:buFont typeface="Arial"/>
              <a:buChar char="➡"/>
              <a:defRPr sz="2800">
                <a:latin typeface="Comic Sans MS"/>
                <a:ea typeface="Comic Sans MS"/>
                <a:cs typeface="Comic Sans MS"/>
                <a:sym typeface="Comic Sans MS"/>
              </a:defRPr>
            </a:lvl1pPr>
          </a:lstStyle>
          <a:p>
            <a:pPr/>
            <a:r>
              <a:t>Work Flow Diagram</a:t>
            </a:r>
          </a:p>
        </p:txBody>
      </p:sp>
      <p:pic>
        <p:nvPicPr>
          <p:cNvPr id="52" name="Screenshot 2025-11-26 at 14.19.01.png" descr="Screenshot 2025-11-26 at 14.19.01.png"/>
          <p:cNvPicPr>
            <a:picLocks noChangeAspect="1"/>
          </p:cNvPicPr>
          <p:nvPr/>
        </p:nvPicPr>
        <p:blipFill>
          <a:blip r:embed="rId2">
            <a:extLst/>
          </a:blip>
          <a:stretch>
            <a:fillRect/>
          </a:stretch>
        </p:blipFill>
        <p:spPr>
          <a:xfrm>
            <a:off x="1061068" y="908495"/>
            <a:ext cx="7021864" cy="545217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4" name="Slide Number"/>
          <p:cNvSpPr txBox="1"/>
          <p:nvPr>
            <p:ph type="sldNum" sz="quarter" idx="2"/>
          </p:nvPr>
        </p:nvSpPr>
        <p:spPr>
          <a:xfrm>
            <a:off x="8371158" y="6461811"/>
            <a:ext cx="231278" cy="350663"/>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5" name="Methodology"/>
          <p:cNvSpPr txBox="1"/>
          <p:nvPr>
            <p:ph type="title" idx="4294967295"/>
          </p:nvPr>
        </p:nvSpPr>
        <p:spPr>
          <a:xfrm>
            <a:off x="386192" y="92074"/>
            <a:ext cx="4179958" cy="601663"/>
          </a:xfrm>
          <a:prstGeom prst="rect">
            <a:avLst/>
          </a:prstGeom>
        </p:spPr>
        <p:txBody>
          <a:bodyPr/>
          <a:lstStyle>
            <a:lvl1pPr marL="342900" indent="-342900" algn="l">
              <a:buSzPct val="100000"/>
              <a:buFont typeface="Arial"/>
              <a:buChar char="➡"/>
              <a:defRPr sz="2800">
                <a:latin typeface="Comic Sans MS"/>
                <a:ea typeface="Comic Sans MS"/>
                <a:cs typeface="Comic Sans MS"/>
                <a:sym typeface="Comic Sans MS"/>
              </a:defRPr>
            </a:lvl1pPr>
          </a:lstStyle>
          <a:p>
            <a:pPr/>
            <a:r>
              <a:t>Methodology</a:t>
            </a:r>
          </a:p>
        </p:txBody>
      </p:sp>
      <p:graphicFrame>
        <p:nvGraphicFramePr>
          <p:cNvPr id="56" name="Table 1"/>
          <p:cNvGraphicFramePr/>
          <p:nvPr/>
        </p:nvGraphicFramePr>
        <p:xfrm>
          <a:off x="141882" y="1104031"/>
          <a:ext cx="8860236" cy="4649938"/>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1450776"/>
                <a:gridCol w="5633244"/>
                <a:gridCol w="1776214"/>
              </a:tblGrid>
              <a:tr h="607532">
                <a:tc>
                  <a:txBody>
                    <a:bodyPr/>
                    <a:lstStyle/>
                    <a:p>
                      <a:pPr defTabSz="457200"/>
                      <a:r>
                        <a:rPr b="1" sz="1400">
                          <a:latin typeface="+mj-lt"/>
                          <a:ea typeface="+mj-ea"/>
                          <a:cs typeface="+mj-cs"/>
                          <a:sym typeface="Helvetica"/>
                        </a:rPr>
                        <a:t>Steps</a:t>
                      </a:r>
                    </a:p>
                  </a:txBody>
                  <a:tcPr marL="12700" marR="12700" marT="12700" marB="12700" anchor="ctr" anchorCtr="0" horzOverflow="overflow">
                    <a:lnL w="0">
                      <a:miter lim="400000"/>
                    </a:lnL>
                    <a:lnR w="12700">
                      <a:miter lim="400000"/>
                    </a:lnR>
                    <a:lnT w="0">
                      <a:miter lim="400000"/>
                    </a:lnT>
                    <a:lnB w="12700">
                      <a:miter lim="400000"/>
                    </a:lnB>
                    <a:noFill/>
                  </a:tcPr>
                </a:tc>
                <a:tc>
                  <a:txBody>
                    <a:bodyPr/>
                    <a:lstStyle/>
                    <a:p>
                      <a:pPr defTabSz="457200"/>
                      <a:r>
                        <a:rPr b="1" sz="1400">
                          <a:latin typeface="+mj-lt"/>
                          <a:ea typeface="+mj-ea"/>
                          <a:cs typeface="+mj-cs"/>
                          <a:sym typeface="Helvetica"/>
                        </a:rPr>
                        <a:t>Description</a:t>
                      </a:r>
                    </a:p>
                  </a:txBody>
                  <a:tcPr marL="12700" marR="12700" marT="12700" marB="12700" anchor="ctr" anchorCtr="0" horzOverflow="overflow">
                    <a:lnL w="12700">
                      <a:miter lim="400000"/>
                    </a:lnL>
                    <a:lnR w="12700">
                      <a:miter lim="400000"/>
                    </a:lnR>
                    <a:lnT w="0">
                      <a:miter lim="400000"/>
                    </a:lnT>
                    <a:lnB w="12700">
                      <a:miter lim="400000"/>
                    </a:lnB>
                    <a:noFill/>
                  </a:tcPr>
                </a:tc>
                <a:tc>
                  <a:txBody>
                    <a:bodyPr/>
                    <a:lstStyle/>
                    <a:p>
                      <a:pPr defTabSz="457200"/>
                      <a:r>
                        <a:rPr b="1" sz="1400">
                          <a:latin typeface="+mj-lt"/>
                          <a:ea typeface="+mj-ea"/>
                          <a:cs typeface="+mj-cs"/>
                          <a:sym typeface="Helvetica"/>
                        </a:rPr>
                        <a:t>Tools/Technologies</a:t>
                      </a:r>
                    </a:p>
                  </a:txBody>
                  <a:tcPr marL="12700" marR="12700" marT="12700" marB="12700" anchor="ctr" anchorCtr="0" horzOverflow="overflow">
                    <a:lnL w="12700">
                      <a:miter lim="400000"/>
                    </a:lnL>
                    <a:lnR w="0">
                      <a:miter lim="400000"/>
                    </a:lnR>
                    <a:lnT w="0">
                      <a:miter lim="400000"/>
                    </a:lnT>
                    <a:lnB w="12700">
                      <a:miter lim="400000"/>
                    </a:lnB>
                    <a:noFill/>
                  </a:tcPr>
                </a:tc>
              </a:tr>
              <a:tr h="607532">
                <a:tc>
                  <a:txBody>
                    <a:bodyPr/>
                    <a:lstStyle/>
                    <a:p>
                      <a:pPr defTabSz="457200"/>
                      <a:r>
                        <a:rPr b="1" sz="1400">
                          <a:latin typeface="+mj-lt"/>
                          <a:ea typeface="+mj-ea"/>
                          <a:cs typeface="+mj-cs"/>
                          <a:sym typeface="Helvetica"/>
                        </a:rPr>
                        <a:t>1. Data Collection</a:t>
                      </a:r>
                    </a:p>
                  </a:txBody>
                  <a:tcPr marL="12700" marR="12700" marT="12700" marB="12700" anchor="ctr" anchorCtr="0" horzOverflow="overflow">
                    <a:lnL w="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Use of UrbanSound8K dataset containing 8,732 labeled urban sound clips across 10 classes.</a:t>
                      </a:r>
                    </a:p>
                  </a:txBody>
                  <a:tcPr marL="12700" marR="12700" marT="12700" marB="12700" anchor="ctr" anchorCtr="0" horzOverflow="overflow">
                    <a:lnL w="1270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Kaggle, UrbanSound8K</a:t>
                      </a:r>
                    </a:p>
                  </a:txBody>
                  <a:tcPr marL="12700" marR="12700" marT="12700" marB="12700" anchor="ctr" anchorCtr="0" horzOverflow="overflow">
                    <a:lnL w="12700">
                      <a:miter lim="400000"/>
                    </a:lnL>
                    <a:lnR w="0">
                      <a:miter lim="400000"/>
                    </a:lnR>
                    <a:lnT w="12700">
                      <a:miter lim="400000"/>
                    </a:lnT>
                    <a:lnB w="12700">
                      <a:miter lim="400000"/>
                    </a:lnB>
                    <a:noFill/>
                  </a:tcPr>
                </a:tc>
              </a:tr>
              <a:tr h="819822">
                <a:tc>
                  <a:txBody>
                    <a:bodyPr/>
                    <a:lstStyle/>
                    <a:p>
                      <a:pPr defTabSz="457200"/>
                      <a:r>
                        <a:rPr b="1" sz="1400">
                          <a:latin typeface="+mj-lt"/>
                          <a:ea typeface="+mj-ea"/>
                          <a:cs typeface="+mj-cs"/>
                          <a:sym typeface="Helvetica"/>
                        </a:rPr>
                        <a:t>2. Data Preprocessing</a:t>
                      </a:r>
                    </a:p>
                  </a:txBody>
                  <a:tcPr marL="12700" marR="12700" marT="12700" marB="12700" anchor="ctr" anchorCtr="0" horzOverflow="overflow">
                    <a:lnL w="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Resampling audio to 22 kHz, noise reduction, audio trimming, segmentation, and augmentation for dataset balancing.</a:t>
                      </a:r>
                    </a:p>
                  </a:txBody>
                  <a:tcPr marL="12700" marR="12700" marT="12700" marB="12700" anchor="ctr" anchorCtr="0" horzOverflow="overflow">
                    <a:lnL w="1270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Librosa</a:t>
                      </a:r>
                    </a:p>
                  </a:txBody>
                  <a:tcPr marL="12700" marR="12700" marT="12700" marB="12700" anchor="ctr" anchorCtr="0" horzOverflow="overflow">
                    <a:lnL w="12700">
                      <a:miter lim="400000"/>
                    </a:lnL>
                    <a:lnR w="0">
                      <a:miter lim="400000"/>
                    </a:lnR>
                    <a:lnT w="12700">
                      <a:miter lim="400000"/>
                    </a:lnT>
                    <a:lnB w="12700">
                      <a:miter lim="400000"/>
                    </a:lnB>
                    <a:noFill/>
                  </a:tcPr>
                </a:tc>
              </a:tr>
              <a:tr h="819822">
                <a:tc>
                  <a:txBody>
                    <a:bodyPr/>
                    <a:lstStyle/>
                    <a:p>
                      <a:pPr defTabSz="457200"/>
                      <a:r>
                        <a:rPr b="1" sz="1400">
                          <a:latin typeface="+mj-lt"/>
                          <a:ea typeface="+mj-ea"/>
                          <a:cs typeface="+mj-cs"/>
                          <a:sym typeface="Helvetica"/>
                        </a:rPr>
                        <a:t>3. Feature Extraction</a:t>
                      </a:r>
                    </a:p>
                  </a:txBody>
                  <a:tcPr marL="12700" marR="12700" marT="12700" marB="12700" anchor="ctr" anchorCtr="0" horzOverflow="overflow">
                    <a:lnL w="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Extract audio features like MFCCs, Mel Spectrogram, Chroma, and Zero-Crossing Rate. Features reshaped for CNN spectrogram input.</a:t>
                      </a:r>
                    </a:p>
                  </a:txBody>
                  <a:tcPr marL="12700" marR="12700" marT="12700" marB="12700" anchor="ctr" anchorCtr="0" horzOverflow="overflow">
                    <a:lnL w="1270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Librosa, SciPy, MFCC + Delta + Delta2</a:t>
                      </a:r>
                    </a:p>
                  </a:txBody>
                  <a:tcPr marL="12700" marR="12700" marT="12700" marB="12700" anchor="ctr" anchorCtr="0" horzOverflow="overflow">
                    <a:lnL w="12700">
                      <a:miter lim="400000"/>
                    </a:lnL>
                    <a:lnR w="0">
                      <a:miter lim="400000"/>
                    </a:lnR>
                    <a:lnT w="12700">
                      <a:miter lim="400000"/>
                    </a:lnT>
                    <a:lnB w="12700">
                      <a:miter lim="400000"/>
                    </a:lnB>
                    <a:noFill/>
                  </a:tcPr>
                </a:tc>
              </a:tr>
              <a:tr h="819822">
                <a:tc>
                  <a:txBody>
                    <a:bodyPr/>
                    <a:lstStyle/>
                    <a:p>
                      <a:pPr defTabSz="457200"/>
                      <a:r>
                        <a:rPr b="1" sz="1400">
                          <a:latin typeface="+mj-lt"/>
                          <a:ea typeface="+mj-ea"/>
                          <a:cs typeface="+mj-cs"/>
                          <a:sym typeface="Helvetica"/>
                        </a:rPr>
                        <a:t>4. Model Training</a:t>
                      </a:r>
                    </a:p>
                  </a:txBody>
                  <a:tcPr marL="12700" marR="12700" marT="12700" marB="12700" anchor="ctr" anchorCtr="0" horzOverflow="overflow">
                    <a:lnL w="0">
                      <a:miter lim="400000"/>
                    </a:lnL>
                    <a:lnR w="12700">
                      <a:miter lim="400000"/>
                    </a:lnR>
                    <a:lnT w="12700">
                      <a:miter lim="400000"/>
                    </a:lnT>
                    <a:lnB w="12700">
                      <a:miter lim="400000"/>
                    </a:lnB>
                    <a:noFill/>
                  </a:tcPr>
                </a:tc>
                <a:tc>
                  <a:txBody>
                    <a:bodyPr/>
                    <a:lstStyle/>
                    <a:p>
                      <a:pPr defTabSz="457200">
                        <a:defRPr sz="1400">
                          <a:latin typeface="+mj-lt"/>
                          <a:ea typeface="+mj-ea"/>
                          <a:cs typeface="+mj-cs"/>
                          <a:sym typeface="Helvetica"/>
                        </a:defRPr>
                      </a:pPr>
                      <a:r>
                        <a:t>Implement and train </a:t>
                      </a:r>
                      <a:r>
                        <a:rPr b="1"/>
                        <a:t>two deep learning models</a:t>
                      </a:r>
                      <a:r>
                        <a:t>: </a:t>
                      </a:r>
                    </a:p>
                    <a:p>
                      <a:pPr marL="301754" indent="-140368" defTabSz="457200">
                        <a:buSzPct val="100000"/>
                        <a:buChar char="●"/>
                        <a:defRPr sz="1400">
                          <a:latin typeface="+mj-lt"/>
                          <a:ea typeface="+mj-ea"/>
                          <a:cs typeface="+mj-cs"/>
                          <a:sym typeface="Helvetica"/>
                        </a:defRPr>
                      </a:pPr>
                      <a:r>
                        <a:rPr b="1"/>
                        <a:t>ANN</a:t>
                      </a:r>
                      <a:r>
                        <a:t> model on extracted MFCC feature vectors </a:t>
                      </a:r>
                    </a:p>
                    <a:p>
                      <a:pPr marL="301754" indent="-140368" defTabSz="457200">
                        <a:buSzPct val="100000"/>
                        <a:buChar char="●"/>
                        <a:defRPr sz="1400">
                          <a:latin typeface="+mj-lt"/>
                          <a:ea typeface="+mj-ea"/>
                          <a:cs typeface="+mj-cs"/>
                          <a:sym typeface="Helvetica"/>
                        </a:defRPr>
                      </a:pPr>
                      <a:r>
                        <a:rPr b="1"/>
                        <a:t>CNN</a:t>
                      </a:r>
                      <a:r>
                        <a:t> model directly on Mel Spectrogram images for spatial feature learning</a:t>
                      </a:r>
                    </a:p>
                  </a:txBody>
                  <a:tcPr marL="12700" marR="12700" marT="12700" marB="12700" anchor="ctr" anchorCtr="0" horzOverflow="overflow">
                    <a:lnL w="12700">
                      <a:miter lim="400000"/>
                    </a:lnL>
                    <a:lnR w="12700">
                      <a:miter lim="400000"/>
                    </a:lnR>
                    <a:lnT w="12700">
                      <a:miter lim="400000"/>
                    </a:lnT>
                    <a:lnB w="12700">
                      <a:miter lim="400000"/>
                    </a:lnB>
                    <a:noFill/>
                  </a:tcPr>
                </a:tc>
                <a:tc>
                  <a:txBody>
                    <a:bodyPr/>
                    <a:lstStyle/>
                    <a:p>
                      <a:pPr defTabSz="457200"/>
                      <a:r>
                        <a:rPr sz="1400">
                          <a:latin typeface="+mj-lt"/>
                          <a:ea typeface="+mj-ea"/>
                          <a:cs typeface="+mj-cs"/>
                          <a:sym typeface="Helvetica"/>
                        </a:rPr>
                        <a:t>TensorFlow, Keras Models: ANN, CNN</a:t>
                      </a:r>
                    </a:p>
                  </a:txBody>
                  <a:tcPr marL="12700" marR="12700" marT="12700" marB="12700" anchor="ctr" anchorCtr="0" horzOverflow="overflow">
                    <a:lnL w="12700">
                      <a:miter lim="400000"/>
                    </a:lnL>
                    <a:lnR w="0">
                      <a:miter lim="400000"/>
                    </a:lnR>
                    <a:lnT w="12700">
                      <a:miter lim="400000"/>
                    </a:lnT>
                    <a:lnB w="12700">
                      <a:miter lim="400000"/>
                    </a:lnB>
                    <a:noFill/>
                  </a:tcPr>
                </a:tc>
              </a:tr>
              <a:tr h="975405">
                <a:tc>
                  <a:txBody>
                    <a:bodyPr/>
                    <a:lstStyle/>
                    <a:p>
                      <a:pPr defTabSz="457200"/>
                      <a:r>
                        <a:rPr b="1" sz="1400">
                          <a:latin typeface="+mj-lt"/>
                          <a:ea typeface="+mj-ea"/>
                          <a:cs typeface="+mj-cs"/>
                          <a:sym typeface="Helvetica"/>
                        </a:rPr>
                        <a:t>5. Evaluation</a:t>
                      </a:r>
                    </a:p>
                  </a:txBody>
                  <a:tcPr marL="12700" marR="12700" marT="12700" marB="12700" anchor="ctr" anchorCtr="0" horzOverflow="overflow">
                    <a:lnL w="0">
                      <a:miter lim="400000"/>
                    </a:lnL>
                    <a:lnR w="12700">
                      <a:miter lim="400000"/>
                    </a:lnR>
                    <a:lnT w="12700">
                      <a:miter lim="400000"/>
                    </a:lnT>
                    <a:lnB w="0">
                      <a:miter lim="400000"/>
                    </a:lnB>
                    <a:noFill/>
                  </a:tcPr>
                </a:tc>
                <a:tc>
                  <a:txBody>
                    <a:bodyPr/>
                    <a:lstStyle/>
                    <a:p>
                      <a:pPr defTabSz="457200"/>
                      <a:r>
                        <a:rPr sz="1400">
                          <a:latin typeface="+mj-lt"/>
                          <a:ea typeface="+mj-ea"/>
                          <a:cs typeface="+mj-cs"/>
                          <a:sym typeface="Helvetica"/>
                        </a:rPr>
                        <a:t>Perform accuracy evaluation and compare using confusion matrix and classification reports for both ANN &amp; CNN.</a:t>
                      </a:r>
                    </a:p>
                  </a:txBody>
                  <a:tcPr marL="12700" marR="12700" marT="12700" marB="12700" anchor="ctr" anchorCtr="0" horzOverflow="overflow">
                    <a:lnL w="12700">
                      <a:miter lim="400000"/>
                    </a:lnL>
                    <a:lnR w="12700">
                      <a:miter lim="400000"/>
                    </a:lnR>
                    <a:lnT w="12700">
                      <a:miter lim="400000"/>
                    </a:lnT>
                    <a:lnB w="0">
                      <a:miter lim="400000"/>
                    </a:lnB>
                    <a:noFill/>
                  </a:tcPr>
                </a:tc>
                <a:tc>
                  <a:txBody>
                    <a:bodyPr/>
                    <a:lstStyle/>
                    <a:p>
                      <a:pPr defTabSz="457200"/>
                      <a:r>
                        <a:rPr sz="1400">
                          <a:latin typeface="+mj-lt"/>
                          <a:ea typeface="+mj-ea"/>
                          <a:cs typeface="+mj-cs"/>
                          <a:sym typeface="Helvetica"/>
                        </a:rPr>
                        <a:t>Scikit-learn (Confusion Matrix, Accuracy Score), Matplotlib</a:t>
                      </a:r>
                    </a:p>
                  </a:txBody>
                  <a:tcPr marL="12700" marR="12700" marT="12700" marB="12700" anchor="ctr" anchorCtr="0" horzOverflow="overflow">
                    <a:lnL w="12700">
                      <a:miter lim="400000"/>
                    </a:lnL>
                    <a:lnR w="0">
                      <a:miter lim="400000"/>
                    </a:lnR>
                    <a:lnT w="12700">
                      <a:miter lim="400000"/>
                    </a:lnT>
                    <a:lnB w="0">
                      <a:miter lim="400000"/>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8" name="Slide Number"/>
          <p:cNvSpPr txBox="1"/>
          <p:nvPr>
            <p:ph type="sldNum" sz="quarter" idx="2"/>
          </p:nvPr>
        </p:nvSpPr>
        <p:spPr>
          <a:xfrm>
            <a:off x="7696200" y="6488112"/>
            <a:ext cx="231277" cy="350663"/>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9" name="Screenshot 2025-11-18 at 09.51.59.png" descr="Screenshot 2025-11-18 at 09.51.59.png"/>
          <p:cNvPicPr>
            <a:picLocks noChangeAspect="1"/>
          </p:cNvPicPr>
          <p:nvPr/>
        </p:nvPicPr>
        <p:blipFill>
          <a:blip r:embed="rId3">
            <a:extLst/>
          </a:blip>
          <a:srcRect l="636" t="636" r="636" b="636"/>
          <a:stretch>
            <a:fillRect/>
          </a:stretch>
        </p:blipFill>
        <p:spPr>
          <a:xfrm>
            <a:off x="5395104" y="901477"/>
            <a:ext cx="3357082" cy="2703492"/>
          </a:xfrm>
          <a:prstGeom prst="rect">
            <a:avLst/>
          </a:prstGeom>
          <a:ln w="12700">
            <a:miter lim="400000"/>
          </a:ln>
        </p:spPr>
      </p:pic>
      <p:pic>
        <p:nvPicPr>
          <p:cNvPr id="60" name="Screenshot 2025-11-18 at 09.52.22.png" descr="Screenshot 2025-11-18 at 09.52.22.png"/>
          <p:cNvPicPr>
            <a:picLocks noChangeAspect="1"/>
          </p:cNvPicPr>
          <p:nvPr/>
        </p:nvPicPr>
        <p:blipFill>
          <a:blip r:embed="rId4">
            <a:extLst/>
          </a:blip>
          <a:srcRect l="1658" t="1658" r="1658" b="1658"/>
          <a:stretch>
            <a:fillRect/>
          </a:stretch>
        </p:blipFill>
        <p:spPr>
          <a:xfrm>
            <a:off x="5394906" y="3668267"/>
            <a:ext cx="3357684" cy="2680257"/>
          </a:xfrm>
          <a:prstGeom prst="rect">
            <a:avLst/>
          </a:prstGeom>
          <a:ln w="12700">
            <a:miter lim="400000"/>
          </a:ln>
        </p:spPr>
      </p:pic>
      <p:sp>
        <p:nvSpPr>
          <p:cNvPr id="61" name="ANN Model – Architecture"/>
          <p:cNvSpPr txBox="1"/>
          <p:nvPr>
            <p:ph type="title" idx="4294967295"/>
          </p:nvPr>
        </p:nvSpPr>
        <p:spPr>
          <a:xfrm>
            <a:off x="372819" y="23541"/>
            <a:ext cx="5203987" cy="738189"/>
          </a:xfrm>
          <a:prstGeom prst="rect">
            <a:avLst/>
          </a:prstGeom>
        </p:spPr>
        <p:txBody>
          <a:bodyPr/>
          <a:lstStyle>
            <a:lvl1pPr marL="342900" indent="-342900" algn="l" defTabSz="457200">
              <a:buSzPct val="100000"/>
              <a:buChar char="➡"/>
              <a:defRPr sz="2800">
                <a:latin typeface="Comic Sans MS"/>
                <a:ea typeface="Comic Sans MS"/>
                <a:cs typeface="Comic Sans MS"/>
                <a:sym typeface="Comic Sans MS"/>
              </a:defRPr>
            </a:lvl1pPr>
          </a:lstStyle>
          <a:p>
            <a:pPr/>
            <a:r>
              <a:t>ANN Model – Architecture</a:t>
            </a:r>
          </a:p>
        </p:txBody>
      </p:sp>
      <p:sp>
        <p:nvSpPr>
          <p:cNvPr id="62" name="Input:…"/>
          <p:cNvSpPr txBox="1"/>
          <p:nvPr/>
        </p:nvSpPr>
        <p:spPr>
          <a:xfrm>
            <a:off x="368295" y="932537"/>
            <a:ext cx="4286633" cy="5184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lnSpc>
                <a:spcPct val="80000"/>
              </a:lnSpc>
              <a:spcBef>
                <a:spcPts val="1200"/>
              </a:spcBef>
              <a:defRPr b="1" sz="1400">
                <a:latin typeface="+mj-lt"/>
                <a:ea typeface="+mj-ea"/>
                <a:cs typeface="+mj-cs"/>
                <a:sym typeface="Helvetica"/>
              </a:defRPr>
            </a:pPr>
            <a:r>
              <a:t>Input:</a:t>
            </a:r>
            <a:endParaRPr b="0"/>
          </a:p>
          <a:p>
            <a:pPr marL="457200" indent="-317500" defTabSz="457200">
              <a:lnSpc>
                <a:spcPct val="80000"/>
              </a:lnSpc>
              <a:spcBef>
                <a:spcPts val="1200"/>
              </a:spcBef>
              <a:buSzPct val="100000"/>
              <a:buFont typeface="Times Roman"/>
              <a:buChar char="•"/>
              <a:defRPr sz="1400">
                <a:latin typeface="+mj-lt"/>
                <a:ea typeface="+mj-ea"/>
                <a:cs typeface="+mj-cs"/>
                <a:sym typeface="Helvetica"/>
              </a:defRPr>
            </a:pPr>
            <a:r>
              <a:t>MFCC feature vector extracted from audio clips</a:t>
            </a:r>
          </a:p>
          <a:p>
            <a:pPr defTabSz="457200">
              <a:lnSpc>
                <a:spcPct val="80000"/>
              </a:lnSpc>
              <a:spcBef>
                <a:spcPts val="1200"/>
              </a:spcBef>
              <a:defRPr b="1" sz="1400">
                <a:latin typeface="+mj-lt"/>
                <a:ea typeface="+mj-ea"/>
                <a:cs typeface="+mj-cs"/>
                <a:sym typeface="Helvetica"/>
              </a:defRPr>
            </a:pPr>
            <a:r>
              <a:t>Architecture Details:</a:t>
            </a:r>
            <a:endParaRPr b="0"/>
          </a:p>
          <a:p>
            <a:pPr marL="457200" indent="-317500" defTabSz="457200">
              <a:lnSpc>
                <a:spcPct val="80000"/>
              </a:lnSpc>
              <a:spcBef>
                <a:spcPts val="1200"/>
              </a:spcBef>
              <a:buSzPct val="100000"/>
              <a:buFont typeface="Times Roman"/>
              <a:buChar char="•"/>
              <a:defRPr sz="1400">
                <a:latin typeface="+mj-lt"/>
                <a:ea typeface="+mj-ea"/>
                <a:cs typeface="+mj-cs"/>
                <a:sym typeface="Helvetica"/>
              </a:defRPr>
            </a:pPr>
            <a:r>
              <a:t>Dense layer (128 units) + ReLU</a:t>
            </a:r>
          </a:p>
          <a:p>
            <a:pPr marL="457200" indent="-317500" defTabSz="457200">
              <a:lnSpc>
                <a:spcPct val="80000"/>
              </a:lnSpc>
              <a:spcBef>
                <a:spcPts val="1200"/>
              </a:spcBef>
              <a:buSzPct val="100000"/>
              <a:buFont typeface="Times Roman"/>
              <a:buChar char="•"/>
              <a:defRPr sz="1400">
                <a:latin typeface="+mj-lt"/>
                <a:ea typeface="+mj-ea"/>
                <a:cs typeface="+mj-cs"/>
                <a:sym typeface="Helvetica"/>
              </a:defRPr>
            </a:pPr>
            <a:r>
              <a:t>Batch Normalization</a:t>
            </a:r>
          </a:p>
          <a:p>
            <a:pPr marL="457200" indent="-317500" defTabSz="457200">
              <a:lnSpc>
                <a:spcPct val="80000"/>
              </a:lnSpc>
              <a:spcBef>
                <a:spcPts val="1200"/>
              </a:spcBef>
              <a:buSzPct val="100000"/>
              <a:buFont typeface="Times Roman"/>
              <a:buChar char="•"/>
              <a:defRPr sz="1400">
                <a:latin typeface="+mj-lt"/>
                <a:ea typeface="+mj-ea"/>
                <a:cs typeface="+mj-cs"/>
                <a:sym typeface="Helvetica"/>
              </a:defRPr>
            </a:pPr>
            <a:r>
              <a:t>Dense layer (64 units) + ReLU</a:t>
            </a:r>
          </a:p>
          <a:p>
            <a:pPr marL="457200" indent="-317500" defTabSz="457200">
              <a:lnSpc>
                <a:spcPct val="80000"/>
              </a:lnSpc>
              <a:spcBef>
                <a:spcPts val="1200"/>
              </a:spcBef>
              <a:buSzPct val="100000"/>
              <a:buFont typeface="Times Roman"/>
              <a:buChar char="•"/>
              <a:defRPr sz="1400">
                <a:latin typeface="+mj-lt"/>
                <a:ea typeface="+mj-ea"/>
                <a:cs typeface="+mj-cs"/>
                <a:sym typeface="Helvetica"/>
              </a:defRPr>
            </a:pPr>
            <a:r>
              <a:t>Dense layer (32 units)</a:t>
            </a:r>
          </a:p>
          <a:p>
            <a:pPr marL="457200" indent="-317500" defTabSz="457200">
              <a:lnSpc>
                <a:spcPct val="80000"/>
              </a:lnSpc>
              <a:spcBef>
                <a:spcPts val="1200"/>
              </a:spcBef>
              <a:buSzPct val="100000"/>
              <a:buFont typeface="Times Roman"/>
              <a:buChar char="•"/>
              <a:defRPr sz="1400">
                <a:latin typeface="+mj-lt"/>
                <a:ea typeface="+mj-ea"/>
                <a:cs typeface="+mj-cs"/>
                <a:sym typeface="Helvetica"/>
              </a:defRPr>
            </a:pPr>
            <a:r>
              <a:t>Output Layer: Softmax (10 classes)</a:t>
            </a:r>
          </a:p>
          <a:p>
            <a:pPr defTabSz="457200">
              <a:lnSpc>
                <a:spcPct val="80000"/>
              </a:lnSpc>
              <a:spcBef>
                <a:spcPts val="1200"/>
              </a:spcBef>
              <a:defRPr b="1" sz="1400">
                <a:latin typeface="+mj-lt"/>
                <a:ea typeface="+mj-ea"/>
                <a:cs typeface="+mj-cs"/>
                <a:sym typeface="Helvetica"/>
              </a:defRPr>
            </a:pPr>
            <a:r>
              <a:t>Training Parameters:</a:t>
            </a:r>
            <a:endParaRPr b="0"/>
          </a:p>
          <a:p>
            <a:pPr marL="457200" indent="-317500" defTabSz="457200">
              <a:lnSpc>
                <a:spcPct val="80000"/>
              </a:lnSpc>
              <a:spcBef>
                <a:spcPts val="1200"/>
              </a:spcBef>
              <a:buSzPct val="100000"/>
              <a:buFont typeface="Times Roman"/>
              <a:buChar char="•"/>
              <a:defRPr sz="1400">
                <a:latin typeface="+mj-lt"/>
                <a:ea typeface="+mj-ea"/>
                <a:cs typeface="+mj-cs"/>
                <a:sym typeface="Helvetica"/>
              </a:defRPr>
            </a:pPr>
            <a:r>
              <a:t>Optimizer: Adam</a:t>
            </a:r>
          </a:p>
          <a:p>
            <a:pPr marL="457200" indent="-317500" defTabSz="457200">
              <a:lnSpc>
                <a:spcPct val="80000"/>
              </a:lnSpc>
              <a:spcBef>
                <a:spcPts val="1200"/>
              </a:spcBef>
              <a:buSzPct val="100000"/>
              <a:buFont typeface="Times Roman"/>
              <a:buChar char="•"/>
              <a:defRPr sz="1400">
                <a:latin typeface="+mj-lt"/>
                <a:ea typeface="+mj-ea"/>
                <a:cs typeface="+mj-cs"/>
                <a:sym typeface="Helvetica"/>
              </a:defRPr>
            </a:pPr>
            <a:r>
              <a:t>Loss Function: Categorical Crossentropy</a:t>
            </a:r>
          </a:p>
          <a:p>
            <a:pPr marL="457200" indent="-317500" defTabSz="457200">
              <a:lnSpc>
                <a:spcPct val="80000"/>
              </a:lnSpc>
              <a:spcBef>
                <a:spcPts val="1200"/>
              </a:spcBef>
              <a:buSzPct val="100000"/>
              <a:buFont typeface="Times Roman"/>
              <a:buChar char="•"/>
              <a:defRPr sz="1400">
                <a:latin typeface="+mj-lt"/>
                <a:ea typeface="+mj-ea"/>
                <a:cs typeface="+mj-cs"/>
                <a:sym typeface="Helvetica"/>
              </a:defRPr>
            </a:pPr>
            <a:r>
              <a:t>Epochs: 50–100</a:t>
            </a:r>
          </a:p>
          <a:p>
            <a:pPr marL="457200" indent="-317500" defTabSz="457200">
              <a:lnSpc>
                <a:spcPct val="80000"/>
              </a:lnSpc>
              <a:spcBef>
                <a:spcPts val="1200"/>
              </a:spcBef>
              <a:buSzPct val="100000"/>
              <a:buFont typeface="Times Roman"/>
              <a:buChar char="•"/>
              <a:defRPr sz="1400">
                <a:latin typeface="+mj-lt"/>
                <a:ea typeface="+mj-ea"/>
                <a:cs typeface="+mj-cs"/>
                <a:sym typeface="Helvetica"/>
              </a:defRPr>
            </a:pPr>
            <a:r>
              <a:t>Batch Size: 32</a:t>
            </a:r>
          </a:p>
          <a:p>
            <a:pPr defTabSz="457200">
              <a:lnSpc>
                <a:spcPct val="80000"/>
              </a:lnSpc>
              <a:spcBef>
                <a:spcPts val="1200"/>
              </a:spcBef>
              <a:defRPr b="1" sz="1400">
                <a:latin typeface="+mj-lt"/>
                <a:ea typeface="+mj-ea"/>
                <a:cs typeface="+mj-cs"/>
                <a:sym typeface="Helvetica"/>
              </a:defRPr>
            </a:pPr>
            <a:r>
              <a:t>Strengths:</a:t>
            </a:r>
            <a:endParaRPr b="0"/>
          </a:p>
          <a:p>
            <a:pPr marL="457200" indent="-317500" defTabSz="457200">
              <a:lnSpc>
                <a:spcPct val="80000"/>
              </a:lnSpc>
              <a:spcBef>
                <a:spcPts val="1200"/>
              </a:spcBef>
              <a:buSzPct val="100000"/>
              <a:buFont typeface="Times Roman"/>
              <a:buChar char="•"/>
              <a:defRPr sz="1400">
                <a:latin typeface="+mj-lt"/>
                <a:ea typeface="+mj-ea"/>
                <a:cs typeface="+mj-cs"/>
                <a:sym typeface="Helvetica"/>
              </a:defRPr>
            </a:pPr>
            <a:r>
              <a:t>Fast training</a:t>
            </a:r>
          </a:p>
          <a:p>
            <a:pPr marL="457200" indent="-317500" defTabSz="457200">
              <a:lnSpc>
                <a:spcPct val="80000"/>
              </a:lnSpc>
              <a:spcBef>
                <a:spcPts val="1200"/>
              </a:spcBef>
              <a:buSzPct val="100000"/>
              <a:buFont typeface="Times Roman"/>
              <a:buChar char="•"/>
              <a:defRPr sz="1400">
                <a:latin typeface="+mj-lt"/>
                <a:ea typeface="+mj-ea"/>
                <a:cs typeface="+mj-cs"/>
                <a:sym typeface="Helvetica"/>
              </a:defRPr>
            </a:pPr>
            <a:r>
              <a:t>Works well with compact feature vectors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4"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65" name="Screenshot 2025-11-18 at 09.52.53.png" descr="Screenshot 2025-11-18 at 09.52.53.png"/>
          <p:cNvPicPr>
            <a:picLocks noChangeAspect="1"/>
          </p:cNvPicPr>
          <p:nvPr/>
        </p:nvPicPr>
        <p:blipFill>
          <a:blip r:embed="rId3">
            <a:extLst/>
          </a:blip>
          <a:stretch>
            <a:fillRect/>
          </a:stretch>
        </p:blipFill>
        <p:spPr>
          <a:xfrm>
            <a:off x="5231665" y="868362"/>
            <a:ext cx="3368262" cy="2691046"/>
          </a:xfrm>
          <a:prstGeom prst="rect">
            <a:avLst/>
          </a:prstGeom>
          <a:ln w="12700">
            <a:miter lim="400000"/>
          </a:ln>
        </p:spPr>
      </p:pic>
      <p:pic>
        <p:nvPicPr>
          <p:cNvPr id="66" name="Screenshot 2025-11-18 at 09.53.12.png" descr="Screenshot 2025-11-18 at 09.53.12.png"/>
          <p:cNvPicPr>
            <a:picLocks noChangeAspect="1"/>
          </p:cNvPicPr>
          <p:nvPr/>
        </p:nvPicPr>
        <p:blipFill>
          <a:blip r:embed="rId4">
            <a:extLst/>
          </a:blip>
          <a:stretch>
            <a:fillRect/>
          </a:stretch>
        </p:blipFill>
        <p:spPr>
          <a:xfrm>
            <a:off x="5258864" y="3678237"/>
            <a:ext cx="3313864" cy="2691046"/>
          </a:xfrm>
          <a:prstGeom prst="rect">
            <a:avLst/>
          </a:prstGeom>
          <a:ln w="12700">
            <a:miter lim="400000"/>
          </a:ln>
        </p:spPr>
      </p:pic>
      <p:sp>
        <p:nvSpPr>
          <p:cNvPr id="67" name="CNN Model – Architecture"/>
          <p:cNvSpPr txBox="1"/>
          <p:nvPr>
            <p:ph type="title" idx="4294967295"/>
          </p:nvPr>
        </p:nvSpPr>
        <p:spPr>
          <a:xfrm>
            <a:off x="378296" y="60208"/>
            <a:ext cx="5643575" cy="665396"/>
          </a:xfrm>
          <a:prstGeom prst="rect">
            <a:avLst/>
          </a:prstGeom>
        </p:spPr>
        <p:txBody>
          <a:bodyPr/>
          <a:lstStyle>
            <a:lvl1pPr marL="342900" indent="-342900" algn="l" defTabSz="457200">
              <a:spcBef>
                <a:spcPts val="1400"/>
              </a:spcBef>
              <a:buSzPct val="100000"/>
              <a:buChar char="➡"/>
              <a:defRPr sz="2800">
                <a:latin typeface="Comic Sans MS"/>
                <a:ea typeface="Comic Sans MS"/>
                <a:cs typeface="Comic Sans MS"/>
                <a:sym typeface="Comic Sans MS"/>
              </a:defRPr>
            </a:lvl1pPr>
          </a:lstStyle>
          <a:p>
            <a:pPr/>
            <a:r>
              <a:t>CNN Model – Architecture</a:t>
            </a:r>
          </a:p>
        </p:txBody>
      </p:sp>
      <p:sp>
        <p:nvSpPr>
          <p:cNvPr id="68" name="Input:…"/>
          <p:cNvSpPr txBox="1"/>
          <p:nvPr/>
        </p:nvSpPr>
        <p:spPr>
          <a:xfrm>
            <a:off x="202909" y="1052671"/>
            <a:ext cx="4662201" cy="5163821"/>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p>
            <a:pPr defTabSz="457200">
              <a:lnSpc>
                <a:spcPct val="70000"/>
              </a:lnSpc>
              <a:spcBef>
                <a:spcPts val="1200"/>
              </a:spcBef>
              <a:defRPr b="1" sz="1400">
                <a:latin typeface="+mj-lt"/>
                <a:ea typeface="+mj-ea"/>
                <a:cs typeface="+mj-cs"/>
                <a:sym typeface="Helvetica"/>
              </a:defRPr>
            </a:pPr>
            <a:r>
              <a:t>Input:</a:t>
            </a:r>
            <a:endParaRPr b="0"/>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2D Mel-Spectrogram images (converted from audio)</a:t>
            </a:r>
          </a:p>
          <a:p>
            <a:pPr defTabSz="457200">
              <a:lnSpc>
                <a:spcPct val="70000"/>
              </a:lnSpc>
              <a:spcBef>
                <a:spcPts val="1200"/>
              </a:spcBef>
              <a:defRPr b="1" sz="1400">
                <a:latin typeface="+mj-lt"/>
                <a:ea typeface="+mj-ea"/>
                <a:cs typeface="+mj-cs"/>
                <a:sym typeface="Helvetica"/>
              </a:defRPr>
            </a:pPr>
            <a:r>
              <a:t>Architecture Details:</a:t>
            </a:r>
            <a:endParaRPr b="0"/>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Conv2D (32 units) + ReLU + MaxPooling(2, 2)</a:t>
            </a:r>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Conv2D (64 units) + ReLU + MaxPooling(2, 2)</a:t>
            </a:r>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Conv2D (128 units) + ReLU + MaxPooling(2, 2)</a:t>
            </a:r>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Flatten layer</a:t>
            </a:r>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Dense layer (64 units)</a:t>
            </a:r>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Output Layer: Softmax (10 categories)</a:t>
            </a:r>
          </a:p>
          <a:p>
            <a:pPr defTabSz="457200">
              <a:lnSpc>
                <a:spcPct val="70000"/>
              </a:lnSpc>
              <a:spcBef>
                <a:spcPts val="1200"/>
              </a:spcBef>
              <a:defRPr b="1" sz="1400">
                <a:latin typeface="+mj-lt"/>
                <a:ea typeface="+mj-ea"/>
                <a:cs typeface="+mj-cs"/>
                <a:sym typeface="Helvetica"/>
              </a:defRPr>
            </a:pPr>
            <a:r>
              <a:t>Training Parameters:</a:t>
            </a:r>
            <a:endParaRPr b="0"/>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Optimizer: Adam</a:t>
            </a:r>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Loss Function: Categorical Crossentropy</a:t>
            </a:r>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Epochs: 40–60</a:t>
            </a:r>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Batch Size: 32</a:t>
            </a:r>
          </a:p>
          <a:p>
            <a:pPr defTabSz="457200">
              <a:lnSpc>
                <a:spcPct val="70000"/>
              </a:lnSpc>
              <a:spcBef>
                <a:spcPts val="1200"/>
              </a:spcBef>
              <a:defRPr b="1" sz="1400">
                <a:latin typeface="+mj-lt"/>
                <a:ea typeface="+mj-ea"/>
                <a:cs typeface="+mj-cs"/>
                <a:sym typeface="Helvetica"/>
              </a:defRPr>
            </a:pPr>
            <a:r>
              <a:t>Advantages:</a:t>
            </a:r>
            <a:endParaRPr b="0"/>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Learns spatial and frequency patterns</a:t>
            </a:r>
          </a:p>
          <a:p>
            <a:pPr marL="457200" indent="-317500" defTabSz="457200">
              <a:lnSpc>
                <a:spcPct val="70000"/>
              </a:lnSpc>
              <a:spcBef>
                <a:spcPts val="1200"/>
              </a:spcBef>
              <a:buSzPct val="100000"/>
              <a:buFont typeface="Times Roman"/>
              <a:buChar char="•"/>
              <a:defRPr sz="1400">
                <a:latin typeface="+mj-lt"/>
                <a:ea typeface="+mj-ea"/>
                <a:cs typeface="+mj-cs"/>
                <a:sym typeface="Helvetica"/>
              </a:defRPr>
            </a:pPr>
            <a:r>
              <a:t>Superior accuracy on complex sound data</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0" name="Slide Number"/>
          <p:cNvSpPr txBox="1"/>
          <p:nvPr>
            <p:ph type="sldNum" sz="quarter" idx="2"/>
          </p:nvPr>
        </p:nvSpPr>
        <p:spPr>
          <a:xfrm>
            <a:off x="8371158" y="6488112"/>
            <a:ext cx="341448" cy="350663"/>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1" name="Results Obtained"/>
          <p:cNvSpPr txBox="1"/>
          <p:nvPr/>
        </p:nvSpPr>
        <p:spPr>
          <a:xfrm>
            <a:off x="379010" y="99535"/>
            <a:ext cx="3301564" cy="586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marL="342900" indent="-342900">
              <a:buSzPct val="100000"/>
              <a:buFont typeface="Arial"/>
              <a:buChar char="➡"/>
              <a:defRPr sz="2800">
                <a:latin typeface="Comic Sans MS"/>
                <a:ea typeface="Comic Sans MS"/>
                <a:cs typeface="Comic Sans MS"/>
                <a:sym typeface="Comic Sans MS"/>
              </a:defRPr>
            </a:lvl1pPr>
          </a:lstStyle>
          <a:p>
            <a:pPr/>
            <a:r>
              <a:t>Results Obtained</a:t>
            </a:r>
          </a:p>
        </p:txBody>
      </p:sp>
      <p:sp>
        <p:nvSpPr>
          <p:cNvPr id="72" name="Accuracy Comparison:…"/>
          <p:cNvSpPr txBox="1"/>
          <p:nvPr>
            <p:ph type="body" idx="4294967295"/>
          </p:nvPr>
        </p:nvSpPr>
        <p:spPr>
          <a:xfrm>
            <a:off x="448484" y="961087"/>
            <a:ext cx="8247032" cy="5404139"/>
          </a:xfrm>
          <a:prstGeom prst="rect">
            <a:avLst/>
          </a:prstGeom>
        </p:spPr>
        <p:txBody>
          <a:bodyPr/>
          <a:lstStyle/>
          <a:p>
            <a:pPr marL="228599" indent="-228599" defTabSz="457200">
              <a:spcBef>
                <a:spcPts val="0"/>
              </a:spcBef>
              <a:buFontTx/>
              <a:defRPr b="1" sz="1500">
                <a:latin typeface="+mj-lt"/>
                <a:ea typeface="+mj-ea"/>
                <a:cs typeface="+mj-cs"/>
                <a:sym typeface="Helvetica"/>
              </a:defRPr>
            </a:pPr>
            <a:r>
              <a:t>Accuracy Comparison:</a:t>
            </a:r>
          </a:p>
          <a:p>
            <a:pPr marL="228599" indent="-228599" defTabSz="457200">
              <a:spcBef>
                <a:spcPts val="0"/>
              </a:spcBef>
              <a:buFontTx/>
              <a:defRPr b="1" sz="1500">
                <a:latin typeface="+mj-lt"/>
                <a:ea typeface="+mj-ea"/>
                <a:cs typeface="+mj-cs"/>
                <a:sym typeface="Helvetica"/>
              </a:defRPr>
            </a:pPr>
          </a:p>
          <a:p>
            <a:pPr marL="228599" indent="-228599" defTabSz="457200">
              <a:spcBef>
                <a:spcPts val="0"/>
              </a:spcBef>
              <a:buFontTx/>
              <a:defRPr b="1" sz="1500">
                <a:latin typeface="+mj-lt"/>
                <a:ea typeface="+mj-ea"/>
                <a:cs typeface="+mj-cs"/>
                <a:sym typeface="Helvetica"/>
              </a:defRPr>
            </a:pPr>
          </a:p>
          <a:p>
            <a:pPr marL="228599" indent="-228599" defTabSz="457200">
              <a:spcBef>
                <a:spcPts val="0"/>
              </a:spcBef>
              <a:buFontTx/>
              <a:defRPr b="1" sz="1500">
                <a:latin typeface="+mj-lt"/>
                <a:ea typeface="+mj-ea"/>
                <a:cs typeface="+mj-cs"/>
                <a:sym typeface="Helvetica"/>
              </a:defRPr>
            </a:pPr>
          </a:p>
          <a:p>
            <a:pPr marL="228599" indent="-228599" defTabSz="457200">
              <a:spcBef>
                <a:spcPts val="0"/>
              </a:spcBef>
              <a:buFontTx/>
              <a:defRPr b="1" sz="1500">
                <a:latin typeface="+mj-lt"/>
                <a:ea typeface="+mj-ea"/>
                <a:cs typeface="+mj-cs"/>
                <a:sym typeface="Helvetica"/>
              </a:defRPr>
            </a:pPr>
          </a:p>
          <a:p>
            <a:pPr marL="228599" indent="-228599" defTabSz="457200">
              <a:spcBef>
                <a:spcPts val="0"/>
              </a:spcBef>
              <a:buFontTx/>
              <a:defRPr b="1" sz="1500">
                <a:latin typeface="+mj-lt"/>
                <a:ea typeface="+mj-ea"/>
                <a:cs typeface="+mj-cs"/>
                <a:sym typeface="Helvetica"/>
              </a:defRPr>
            </a:pPr>
          </a:p>
          <a:p>
            <a:pPr marL="228599" indent="-228599" defTabSz="457200">
              <a:spcBef>
                <a:spcPts val="0"/>
              </a:spcBef>
              <a:buFontTx/>
              <a:defRPr b="1" sz="1500">
                <a:latin typeface="+mj-lt"/>
                <a:ea typeface="+mj-ea"/>
                <a:cs typeface="+mj-cs"/>
                <a:sym typeface="Helvetica"/>
              </a:defRPr>
            </a:pPr>
          </a:p>
          <a:p>
            <a:pPr marL="228599" indent="-228599" defTabSz="457200">
              <a:spcBef>
                <a:spcPts val="1200"/>
              </a:spcBef>
              <a:buFontTx/>
              <a:defRPr b="1" sz="1500">
                <a:latin typeface="+mj-lt"/>
                <a:ea typeface="+mj-ea"/>
                <a:cs typeface="+mj-cs"/>
                <a:sym typeface="Helvetica"/>
              </a:defRPr>
            </a:pPr>
          </a:p>
          <a:p>
            <a:pPr marL="228599" indent="-228599" defTabSz="457200">
              <a:spcBef>
                <a:spcPts val="1200"/>
              </a:spcBef>
              <a:buFontTx/>
              <a:defRPr b="1" sz="1500">
                <a:latin typeface="+mj-lt"/>
                <a:ea typeface="+mj-ea"/>
                <a:cs typeface="+mj-cs"/>
                <a:sym typeface="Helvetica"/>
              </a:defRPr>
            </a:pPr>
          </a:p>
          <a:p>
            <a:pPr marL="228599" indent="-228599" defTabSz="457200">
              <a:spcBef>
                <a:spcPts val="1200"/>
              </a:spcBef>
              <a:buFontTx/>
              <a:defRPr b="1" sz="1500">
                <a:latin typeface="+mj-lt"/>
                <a:ea typeface="+mj-ea"/>
                <a:cs typeface="+mj-cs"/>
                <a:sym typeface="Helvetica"/>
              </a:defRPr>
            </a:pPr>
          </a:p>
          <a:p>
            <a:pPr marL="228599" indent="-228599" defTabSz="457200">
              <a:spcBef>
                <a:spcPts val="1200"/>
              </a:spcBef>
              <a:buFontTx/>
              <a:defRPr b="1" sz="1500">
                <a:latin typeface="+mj-lt"/>
                <a:ea typeface="+mj-ea"/>
                <a:cs typeface="+mj-cs"/>
                <a:sym typeface="Helvetica"/>
              </a:defRPr>
            </a:pPr>
          </a:p>
          <a:p>
            <a:pPr marL="228599" indent="-228599" defTabSz="457200">
              <a:spcBef>
                <a:spcPts val="1200"/>
              </a:spcBef>
              <a:buFontTx/>
              <a:defRPr b="1" sz="1500">
                <a:latin typeface="+mj-lt"/>
                <a:ea typeface="+mj-ea"/>
                <a:cs typeface="+mj-cs"/>
                <a:sym typeface="Helvetica"/>
              </a:defRPr>
            </a:pPr>
          </a:p>
          <a:p>
            <a:pPr marL="228599" indent="-228599" defTabSz="457200">
              <a:spcBef>
                <a:spcPts val="1200"/>
              </a:spcBef>
              <a:buFontTx/>
              <a:defRPr b="1" sz="1500">
                <a:latin typeface="+mj-lt"/>
                <a:ea typeface="+mj-ea"/>
                <a:cs typeface="+mj-cs"/>
                <a:sym typeface="Helvetica"/>
              </a:defRPr>
            </a:pPr>
          </a:p>
          <a:p>
            <a:pPr marL="228599" indent="-228599" defTabSz="457200">
              <a:spcBef>
                <a:spcPts val="1200"/>
              </a:spcBef>
              <a:buFontTx/>
              <a:defRPr b="1" sz="1500">
                <a:latin typeface="+mj-lt"/>
                <a:ea typeface="+mj-ea"/>
                <a:cs typeface="+mj-cs"/>
                <a:sym typeface="Helvetica"/>
              </a:defRPr>
            </a:pPr>
            <a:r>
              <a:t>Performance Highlights:</a:t>
            </a:r>
            <a:endParaRPr b="0"/>
          </a:p>
          <a:p>
            <a:pPr marL="535776" indent="-228599" defTabSz="457200">
              <a:spcBef>
                <a:spcPts val="1200"/>
              </a:spcBef>
              <a:buFontTx/>
              <a:buChar char="๏"/>
              <a:defRPr sz="1500">
                <a:latin typeface="+mj-lt"/>
                <a:ea typeface="+mj-ea"/>
                <a:cs typeface="+mj-cs"/>
                <a:sym typeface="Helvetica"/>
              </a:defRPr>
            </a:pPr>
            <a:r>
              <a:t>CNN shows higher precision and recall across most sound classes.</a:t>
            </a:r>
          </a:p>
          <a:p>
            <a:pPr marL="535776" indent="-228599" defTabSz="457200">
              <a:spcBef>
                <a:spcPts val="1200"/>
              </a:spcBef>
              <a:buFontTx/>
              <a:buChar char="๏"/>
              <a:defRPr sz="1500">
                <a:latin typeface="+mj-lt"/>
                <a:ea typeface="+mj-ea"/>
                <a:cs typeface="+mj-cs"/>
                <a:sym typeface="Helvetica"/>
              </a:defRPr>
            </a:pPr>
            <a:r>
              <a:t>ANN performs well for simpler sound categories.</a:t>
            </a:r>
          </a:p>
          <a:p>
            <a:pPr marL="535776" indent="-228599" defTabSz="457200">
              <a:spcBef>
                <a:spcPts val="1200"/>
              </a:spcBef>
              <a:buFontTx/>
              <a:buChar char="๏"/>
              <a:defRPr sz="1500">
                <a:latin typeface="+mj-lt"/>
                <a:ea typeface="+mj-ea"/>
                <a:cs typeface="+mj-cs"/>
                <a:sym typeface="Helvetica"/>
              </a:defRPr>
            </a:pPr>
            <a:r>
              <a:t>CNN captures advanced temporal-frequency behavior.</a:t>
            </a:r>
          </a:p>
        </p:txBody>
      </p:sp>
      <p:pic>
        <p:nvPicPr>
          <p:cNvPr id="73" name="Screenshot 2025-11-26 at 13.50.25.png" descr="Screenshot 2025-11-26 at 13.50.25.png"/>
          <p:cNvPicPr>
            <a:picLocks noChangeAspect="1"/>
          </p:cNvPicPr>
          <p:nvPr/>
        </p:nvPicPr>
        <p:blipFill>
          <a:blip r:embed="rId3">
            <a:extLst/>
          </a:blip>
          <a:stretch>
            <a:fillRect/>
          </a:stretch>
        </p:blipFill>
        <p:spPr>
          <a:xfrm>
            <a:off x="711418" y="1315052"/>
            <a:ext cx="3301564" cy="2779457"/>
          </a:xfrm>
          <a:prstGeom prst="rect">
            <a:avLst/>
          </a:prstGeom>
          <a:ln w="12700">
            <a:miter lim="400000"/>
          </a:ln>
        </p:spPr>
      </p:pic>
      <p:pic>
        <p:nvPicPr>
          <p:cNvPr id="74" name="Screenshot 2025-11-26 at 13.50.56.png" descr="Screenshot 2025-11-26 at 13.50.56.png"/>
          <p:cNvPicPr>
            <a:picLocks noChangeAspect="1"/>
          </p:cNvPicPr>
          <p:nvPr/>
        </p:nvPicPr>
        <p:blipFill>
          <a:blip r:embed="rId4">
            <a:extLst/>
          </a:blip>
          <a:stretch>
            <a:fillRect/>
          </a:stretch>
        </p:blipFill>
        <p:spPr>
          <a:xfrm>
            <a:off x="5208779" y="1321069"/>
            <a:ext cx="3298442" cy="2767424"/>
          </a:xfrm>
          <a:prstGeom prst="rect">
            <a:avLst/>
          </a:prstGeom>
          <a:ln w="12700">
            <a:miter lim="400000"/>
          </a:ln>
        </p:spPr>
      </p:pic>
      <p:sp>
        <p:nvSpPr>
          <p:cNvPr id="75" name="ANN Model…"/>
          <p:cNvSpPr txBox="1"/>
          <p:nvPr/>
        </p:nvSpPr>
        <p:spPr>
          <a:xfrm>
            <a:off x="1510736" y="4191760"/>
            <a:ext cx="1702928" cy="5486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ctr">
              <a:defRPr b="1" sz="1500">
                <a:latin typeface="+mj-lt"/>
                <a:ea typeface="+mj-ea"/>
                <a:cs typeface="+mj-cs"/>
                <a:sym typeface="Helvetica"/>
              </a:defRPr>
            </a:pPr>
            <a:r>
              <a:t>ANN Model</a:t>
            </a:r>
          </a:p>
          <a:p>
            <a:pPr algn="ctr">
              <a:defRPr sz="1500">
                <a:latin typeface="+mj-lt"/>
                <a:ea typeface="+mj-ea"/>
                <a:cs typeface="+mj-cs"/>
                <a:sym typeface="Helvetica"/>
              </a:defRPr>
            </a:pPr>
            <a:r>
              <a:t>Accuracy:- 95.68%</a:t>
            </a:r>
          </a:p>
        </p:txBody>
      </p:sp>
      <p:sp>
        <p:nvSpPr>
          <p:cNvPr id="76" name="CNN Model…"/>
          <p:cNvSpPr txBox="1"/>
          <p:nvPr/>
        </p:nvSpPr>
        <p:spPr>
          <a:xfrm>
            <a:off x="6097610" y="4191760"/>
            <a:ext cx="1596980" cy="5486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ctr">
              <a:defRPr b="1" sz="1500">
                <a:latin typeface="+mj-lt"/>
                <a:ea typeface="+mj-ea"/>
                <a:cs typeface="+mj-cs"/>
                <a:sym typeface="Helvetica"/>
              </a:defRPr>
            </a:pPr>
            <a:r>
              <a:t>CNN Model</a:t>
            </a:r>
          </a:p>
          <a:p>
            <a:pPr algn="ctr">
              <a:defRPr sz="1500">
                <a:latin typeface="+mj-lt"/>
                <a:ea typeface="+mj-ea"/>
                <a:cs typeface="+mj-cs"/>
                <a:sym typeface="Helvetica"/>
              </a:defRPr>
            </a:pPr>
            <a:r>
              <a:t>Accuracy:- 84.5%</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8" name="Slide Number"/>
          <p:cNvSpPr txBox="1"/>
          <p:nvPr>
            <p:ph type="sldNum" sz="quarter" idx="2"/>
          </p:nvPr>
        </p:nvSpPr>
        <p:spPr>
          <a:xfrm>
            <a:off x="8371158" y="6488112"/>
            <a:ext cx="358414" cy="350663"/>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9" name="Contribution"/>
          <p:cNvSpPr txBox="1"/>
          <p:nvPr>
            <p:ph type="title" idx="4294967295"/>
          </p:nvPr>
        </p:nvSpPr>
        <p:spPr>
          <a:xfrm>
            <a:off x="387063" y="23812"/>
            <a:ext cx="3175728" cy="738188"/>
          </a:xfrm>
          <a:prstGeom prst="rect">
            <a:avLst/>
          </a:prstGeom>
        </p:spPr>
        <p:txBody>
          <a:bodyPr/>
          <a:lstStyle>
            <a:lvl1pPr marL="342900" indent="-342900" algn="l">
              <a:buSzPct val="100000"/>
              <a:buFont typeface="Arial"/>
              <a:buChar char="➡"/>
              <a:defRPr sz="2800">
                <a:latin typeface="Comic Sans MS"/>
                <a:ea typeface="Comic Sans MS"/>
                <a:cs typeface="Comic Sans MS"/>
                <a:sym typeface="Comic Sans MS"/>
              </a:defRPr>
            </a:lvl1pPr>
          </a:lstStyle>
          <a:p>
            <a:pPr/>
            <a:r>
              <a:t>Contribution</a:t>
            </a:r>
          </a:p>
        </p:txBody>
      </p:sp>
      <p:sp>
        <p:nvSpPr>
          <p:cNvPr id="80" name="Helps monitor and control urban noise pollution, supporting healthier and more sustainable city environments.…"/>
          <p:cNvSpPr txBox="1"/>
          <p:nvPr>
            <p:ph type="body" idx="4294967295"/>
          </p:nvPr>
        </p:nvSpPr>
        <p:spPr>
          <a:xfrm>
            <a:off x="457200" y="1267053"/>
            <a:ext cx="8229600" cy="4115986"/>
          </a:xfrm>
          <a:prstGeom prst="rect">
            <a:avLst/>
          </a:prstGeom>
        </p:spPr>
        <p:txBody>
          <a:bodyPr/>
          <a:lstStyle/>
          <a:p>
            <a:pPr marL="228599" indent="-228599" algn="just" defTabSz="457200">
              <a:lnSpc>
                <a:spcPct val="150000"/>
              </a:lnSpc>
              <a:spcBef>
                <a:spcPts val="1200"/>
              </a:spcBef>
              <a:buFontTx/>
              <a:defRPr sz="1500">
                <a:latin typeface="+mj-lt"/>
                <a:ea typeface="+mj-ea"/>
                <a:cs typeface="+mj-cs"/>
                <a:sym typeface="Helvetica"/>
              </a:defRPr>
            </a:pPr>
            <a:r>
              <a:rPr b="1"/>
              <a:t>Helps monitor and control urban noise pollution</a:t>
            </a:r>
            <a:r>
              <a:t>, supporting healthier and more sustainable city environments.</a:t>
            </a:r>
          </a:p>
          <a:p>
            <a:pPr marL="228599" indent="-228599" algn="just" defTabSz="457200">
              <a:lnSpc>
                <a:spcPct val="150000"/>
              </a:lnSpc>
              <a:spcBef>
                <a:spcPts val="1200"/>
              </a:spcBef>
              <a:buFontTx/>
              <a:defRPr sz="1500">
                <a:latin typeface="+mj-lt"/>
                <a:ea typeface="+mj-ea"/>
                <a:cs typeface="+mj-cs"/>
                <a:sym typeface="Helvetica"/>
              </a:defRPr>
            </a:pPr>
            <a:r>
              <a:rPr b="1"/>
              <a:t>Improves public safety</a:t>
            </a:r>
            <a:r>
              <a:t> by enabling automatic detection of critical sounds such as sirens, alarms, and accidents.</a:t>
            </a:r>
          </a:p>
          <a:p>
            <a:pPr marL="228599" indent="-228599" algn="just" defTabSz="457200">
              <a:lnSpc>
                <a:spcPct val="150000"/>
              </a:lnSpc>
              <a:spcBef>
                <a:spcPts val="1200"/>
              </a:spcBef>
              <a:buFontTx/>
              <a:defRPr sz="1500">
                <a:latin typeface="+mj-lt"/>
                <a:ea typeface="+mj-ea"/>
                <a:cs typeface="+mj-cs"/>
                <a:sym typeface="Helvetica"/>
              </a:defRPr>
            </a:pPr>
            <a:r>
              <a:rPr b="1"/>
              <a:t>Supports smart city development</a:t>
            </a:r>
            <a:r>
              <a:t> through real-time sound analytics that assist in traffic management and incident response.</a:t>
            </a:r>
          </a:p>
          <a:p>
            <a:pPr marL="228599" indent="-228599" algn="just" defTabSz="457200">
              <a:lnSpc>
                <a:spcPct val="150000"/>
              </a:lnSpc>
              <a:spcBef>
                <a:spcPts val="1200"/>
              </a:spcBef>
              <a:buFontTx/>
              <a:defRPr sz="1500">
                <a:latin typeface="+mj-lt"/>
                <a:ea typeface="+mj-ea"/>
                <a:cs typeface="+mj-cs"/>
                <a:sym typeface="Helvetica"/>
              </a:defRPr>
            </a:pPr>
            <a:r>
              <a:rPr b="1"/>
              <a:t>Enables data-driven urban planning</a:t>
            </a:r>
            <a:r>
              <a:t>, allowing authorities to design quieter and more optimized city layouts.</a:t>
            </a:r>
          </a:p>
          <a:p>
            <a:pPr marL="228599" indent="-228599" algn="just" defTabSz="457200">
              <a:lnSpc>
                <a:spcPct val="150000"/>
              </a:lnSpc>
              <a:spcBef>
                <a:spcPts val="1200"/>
              </a:spcBef>
              <a:buFontTx/>
              <a:defRPr sz="1500">
                <a:latin typeface="+mj-lt"/>
                <a:ea typeface="+mj-ea"/>
                <a:cs typeface="+mj-cs"/>
                <a:sym typeface="Helvetica"/>
              </a:defRPr>
            </a:pPr>
            <a:r>
              <a:rPr b="1"/>
              <a:t>Enhances overall quality of life</a:t>
            </a:r>
            <a:r>
              <a:t> by reducing noise-related stress, protecting sensitive areas like hospitals and schools.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82" name="Slide Number"/>
          <p:cNvSpPr txBox="1"/>
          <p:nvPr>
            <p:ph type="sldNum" sz="quarter" idx="2"/>
          </p:nvPr>
        </p:nvSpPr>
        <p:spPr>
          <a:xfrm>
            <a:off x="8307590" y="6488112"/>
            <a:ext cx="358414" cy="350663"/>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3" name="Conclusion and Future Work"/>
          <p:cNvSpPr txBox="1"/>
          <p:nvPr>
            <p:ph type="title" idx="4294967295"/>
          </p:nvPr>
        </p:nvSpPr>
        <p:spPr>
          <a:xfrm>
            <a:off x="380027" y="92074"/>
            <a:ext cx="5690695" cy="601663"/>
          </a:xfrm>
          <a:prstGeom prst="rect">
            <a:avLst/>
          </a:prstGeom>
        </p:spPr>
        <p:txBody>
          <a:bodyPr/>
          <a:lstStyle>
            <a:lvl1pPr marL="342900" indent="-342900" algn="l">
              <a:buSzPct val="100000"/>
              <a:buFont typeface="Arial"/>
              <a:buChar char="➡"/>
              <a:defRPr sz="2800">
                <a:latin typeface="Comic Sans MS"/>
                <a:ea typeface="Comic Sans MS"/>
                <a:cs typeface="Comic Sans MS"/>
                <a:sym typeface="Comic Sans MS"/>
              </a:defRPr>
            </a:lvl1pPr>
          </a:lstStyle>
          <a:p>
            <a:pPr/>
            <a:r>
              <a:t>Conclusion and Future Work</a:t>
            </a:r>
          </a:p>
        </p:txBody>
      </p:sp>
      <p:sp>
        <p:nvSpPr>
          <p:cNvPr id="84" name="The ANN and CNN models effectively classify complex urban sounds, with CNN offering superior recognition due to its ability to learn spatial audio patterns.…"/>
          <p:cNvSpPr txBox="1"/>
          <p:nvPr>
            <p:ph type="body" idx="4294967295"/>
          </p:nvPr>
        </p:nvSpPr>
        <p:spPr>
          <a:xfrm>
            <a:off x="263845" y="1433626"/>
            <a:ext cx="8656892" cy="4155129"/>
          </a:xfrm>
          <a:prstGeom prst="rect">
            <a:avLst/>
          </a:prstGeom>
        </p:spPr>
        <p:txBody>
          <a:bodyPr/>
          <a:lstStyle/>
          <a:p>
            <a:pPr marL="457200" indent="-317500" algn="just" defTabSz="457200">
              <a:lnSpc>
                <a:spcPct val="150000"/>
              </a:lnSpc>
              <a:spcBef>
                <a:spcPts val="1200"/>
              </a:spcBef>
              <a:buFont typeface="Times Roman"/>
              <a:defRPr sz="1500">
                <a:latin typeface="+mj-lt"/>
                <a:ea typeface="+mj-ea"/>
                <a:cs typeface="+mj-cs"/>
                <a:sym typeface="Helvetica"/>
              </a:defRPr>
            </a:pPr>
            <a:r>
              <a:t>The ANN and CNN models effectively classify complex urban sounds, with CNN offering superior recognition due to its ability to learn spatial audio patterns.</a:t>
            </a:r>
          </a:p>
          <a:p>
            <a:pPr marL="457200" indent="-317500" algn="just" defTabSz="457200">
              <a:lnSpc>
                <a:spcPct val="150000"/>
              </a:lnSpc>
              <a:spcBef>
                <a:spcPts val="1200"/>
              </a:spcBef>
              <a:buFont typeface="Times Roman"/>
              <a:defRPr sz="1500">
                <a:latin typeface="+mj-lt"/>
                <a:ea typeface="+mj-ea"/>
                <a:cs typeface="+mj-cs"/>
                <a:sym typeface="Helvetica"/>
              </a:defRPr>
            </a:pPr>
            <a:r>
              <a:t>The system is suitable for integration into </a:t>
            </a:r>
            <a:r>
              <a:rPr b="1"/>
              <a:t>IoT and smart city infrastructures</a:t>
            </a:r>
            <a:r>
              <a:t> for real-time noise and event monitoring.</a:t>
            </a:r>
          </a:p>
          <a:p>
            <a:pPr marL="457200" indent="-317500" algn="just" defTabSz="457200">
              <a:lnSpc>
                <a:spcPct val="150000"/>
              </a:lnSpc>
              <a:spcBef>
                <a:spcPts val="1200"/>
              </a:spcBef>
              <a:buFont typeface="Times Roman"/>
              <a:defRPr sz="1500">
                <a:latin typeface="+mj-lt"/>
                <a:ea typeface="+mj-ea"/>
                <a:cs typeface="+mj-cs"/>
                <a:sym typeface="Helvetica"/>
              </a:defRPr>
            </a:pPr>
            <a:r>
              <a:t>Future enhancements include developing a </a:t>
            </a:r>
            <a:r>
              <a:rPr b="1"/>
              <a:t>hybrid CNN–LSTM model, RNN &amp; GNN models</a:t>
            </a:r>
            <a:r>
              <a:t> to capture temporal sound patterns for improved accuracy.</a:t>
            </a:r>
          </a:p>
          <a:p>
            <a:pPr marL="457200" indent="-317500" algn="just" defTabSz="457200">
              <a:lnSpc>
                <a:spcPct val="150000"/>
              </a:lnSpc>
              <a:spcBef>
                <a:spcPts val="1200"/>
              </a:spcBef>
              <a:buFont typeface="Times Roman"/>
              <a:defRPr b="1" sz="1500">
                <a:latin typeface="+mj-lt"/>
                <a:ea typeface="+mj-ea"/>
                <a:cs typeface="+mj-cs"/>
                <a:sym typeface="Helvetica"/>
              </a:defRPr>
            </a:pPr>
            <a:r>
              <a:rPr b="0"/>
              <a:t>Advanced methods such as </a:t>
            </a:r>
            <a:r>
              <a:t>Audio Transformers and noise-robust augmentation techniques</a:t>
            </a:r>
            <a:r>
              <a:rPr b="0"/>
              <a:t> can further boost performance for real-world deployment.</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86" name="TextBox 1"/>
          <p:cNvSpPr txBox="1"/>
          <p:nvPr>
            <p:ph type="sldNum" sz="quarter" idx="2"/>
          </p:nvPr>
        </p:nvSpPr>
        <p:spPr>
          <a:xfrm>
            <a:off x="8318864" y="6479345"/>
            <a:ext cx="335866" cy="333089"/>
          </a:xfrm>
          <a:prstGeom prst="rect">
            <a:avLst/>
          </a:prstGeom>
          <a:extLst>
            <a:ext uri="{C572A759-6A51-4108-AA02-DFA0A04FC94B}">
              <ma14:wrappingTextBoxFlag xmlns:ma14="http://schemas.microsoft.com/office/mac/drawingml/2011/main" val="1"/>
            </a:ext>
          </a:extLst>
        </p:spPr>
        <p:txBody>
          <a:bodyPr/>
          <a:lstStyle>
            <a:lvl1pPr>
              <a:defRPr>
                <a:latin typeface="+mn-lt"/>
                <a:ea typeface="+mn-ea"/>
                <a:cs typeface="+mn-cs"/>
                <a:sym typeface="Calibri"/>
              </a:defRPr>
            </a:lvl1pPr>
          </a:lstStyle>
          <a:p>
            <a:pPr/>
            <a:fld id="{86CB4B4D-7CA3-9044-876B-883B54F8677D}" type="slidenum"/>
          </a:p>
        </p:txBody>
      </p:sp>
      <p:sp>
        <p:nvSpPr>
          <p:cNvPr id="87" name="Rectangle 2"/>
          <p:cNvSpPr txBox="1"/>
          <p:nvPr/>
        </p:nvSpPr>
        <p:spPr>
          <a:xfrm>
            <a:off x="383208" y="99535"/>
            <a:ext cx="2353147" cy="586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marL="342900" indent="-342900">
              <a:buSzPct val="100000"/>
              <a:buChar char="➡"/>
              <a:defRPr sz="2800">
                <a:latin typeface="Comic Sans MS"/>
                <a:ea typeface="Comic Sans MS"/>
                <a:cs typeface="Comic Sans MS"/>
                <a:sym typeface="Comic Sans MS"/>
              </a:defRPr>
            </a:lvl1pPr>
          </a:lstStyle>
          <a:p>
            <a:pPr/>
            <a:r>
              <a:t>References</a:t>
            </a:r>
          </a:p>
        </p:txBody>
      </p:sp>
      <p:sp>
        <p:nvSpPr>
          <p:cNvPr id="88" name="Rectangle 1"/>
          <p:cNvSpPr txBox="1"/>
          <p:nvPr/>
        </p:nvSpPr>
        <p:spPr>
          <a:xfrm>
            <a:off x="579120" y="1104741"/>
            <a:ext cx="7985760" cy="47091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defTabSz="12700">
              <a:lnSpc>
                <a:spcPct val="120000"/>
              </a:lnSpc>
              <a:buSzPct val="100000"/>
              <a:buAutoNum type="arabicPeriod" startA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Mushtaq, Z.; Su, S.F. (2020).</a:t>
            </a:r>
          </a:p>
          <a:p>
            <a:pPr marL="314959" defTabSz="12700">
              <a:lnSpc>
                <a:spcPct val="12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Efficient Classification of Environmental Sounds through Multiple Features Aggregation</a:t>
            </a:r>
          </a:p>
          <a:p>
            <a:pPr marL="314959" defTabSz="12700">
              <a:lnSpc>
                <a:spcPct val="12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and Data Enhancement Techniques for Spectrogram Images.</a:t>
            </a:r>
          </a:p>
          <a:p>
            <a:pPr marL="314959" defTabSz="12700">
              <a:lnSpc>
                <a:spcPct val="12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Symmetry, 12, 1822.</a:t>
            </a:r>
          </a:p>
          <a:p>
            <a:pPr marL="228600" indent="-228600" defTabSz="12700">
              <a:lnSpc>
                <a:spcPct val="120000"/>
              </a:lnSpc>
              <a:buSzPct val="100000"/>
              <a:buAutoNum type="arabicPeriod" startAt="2"/>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Das, J.K.; Chakrabarty, A.; Piran, M.J. (2021).</a:t>
            </a:r>
          </a:p>
          <a:p>
            <a:pPr marL="314959" defTabSz="12700">
              <a:lnSpc>
                <a:spcPct val="12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Environmental sound classification using convolution neural networks with different integrated loss functions.</a:t>
            </a:r>
          </a:p>
          <a:p>
            <a:pPr marL="314959" defTabSz="12700">
              <a:lnSpc>
                <a:spcPct val="12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Expert Systems.</a:t>
            </a:r>
          </a:p>
          <a:p>
            <a:pPr marL="228600" indent="-228600" defTabSz="12700">
              <a:lnSpc>
                <a:spcPct val="120000"/>
              </a:lnSpc>
              <a:buSzPct val="100000"/>
              <a:buAutoNum type="arabicPeriod" startAt="3"/>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Das, J.K.; Ghosh, A.; Pal, A.K.; Dutta, S.; Chakrabarty, A. (2020).</a:t>
            </a:r>
          </a:p>
          <a:p>
            <a:pPr marL="314959" defTabSz="12700">
              <a:lnSpc>
                <a:spcPct val="12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Urban Sound Classification Using Convolutional Neural Network and Long Short-Term Memory based on Multiple Features.</a:t>
            </a:r>
          </a:p>
          <a:p>
            <a:pPr marL="314959" defTabSz="12700">
              <a:lnSpc>
                <a:spcPct val="12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Proceedings of ICDS 2020.</a:t>
            </a:r>
          </a:p>
          <a:p>
            <a:pPr marL="228600" indent="-228600" defTabSz="12700">
              <a:lnSpc>
                <a:spcPct val="120000"/>
              </a:lnSpc>
              <a:buSzPct val="100000"/>
              <a:buAutoNum type="arabicPeriod" startAt="4"/>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Mu, W.; Yin, B.; Huang, X.; Xu, J.; Du, Z. (2021).</a:t>
            </a:r>
          </a:p>
          <a:p>
            <a:pPr marL="314959" defTabSz="12700">
              <a:lnSpc>
                <a:spcPct val="12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Environmental sound classification using temporal-frequency attention based CNN.</a:t>
            </a:r>
          </a:p>
          <a:p>
            <a:pPr marL="314959" defTabSz="12700">
              <a:lnSpc>
                <a:spcPct val="12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Scientific Reports, 11, 21552.</a:t>
            </a:r>
          </a:p>
          <a:p>
            <a:pPr marL="228600" indent="-228600" defTabSz="12700">
              <a:lnSpc>
                <a:spcPct val="120000"/>
              </a:lnSpc>
              <a:buSzPct val="100000"/>
              <a:buAutoNum type="arabicPeriod" startAt="5"/>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McFee et al. (2015).</a:t>
            </a:r>
          </a:p>
          <a:p>
            <a:pPr marL="314959" defTabSz="12700">
              <a:lnSpc>
                <a:spcPct val="12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j-lt"/>
                <a:ea typeface="+mj-ea"/>
                <a:cs typeface="+mj-cs"/>
                <a:sym typeface="Helvetica"/>
              </a:defRPr>
            </a:pPr>
            <a:r>
              <a:t>librosa: Audio and Music Signal Processing Library.</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90" name="TextBox 1"/>
          <p:cNvSpPr txBox="1"/>
          <p:nvPr>
            <p:ph type="sldNum" sz="quarter" idx="2"/>
          </p:nvPr>
        </p:nvSpPr>
        <p:spPr>
          <a:xfrm>
            <a:off x="8318864" y="6488112"/>
            <a:ext cx="335866" cy="333089"/>
          </a:xfrm>
          <a:prstGeom prst="rect">
            <a:avLst/>
          </a:prstGeom>
          <a:extLst>
            <a:ext uri="{C572A759-6A51-4108-AA02-DFA0A04FC94B}">
              <ma14:wrappingTextBoxFlag xmlns:ma14="http://schemas.microsoft.com/office/mac/drawingml/2011/main" val="1"/>
            </a:ext>
          </a:extLst>
        </p:spPr>
        <p:txBody>
          <a:bodyPr/>
          <a:lstStyle>
            <a:lvl1pPr>
              <a:defRPr>
                <a:latin typeface="+mn-lt"/>
                <a:ea typeface="+mn-ea"/>
                <a:cs typeface="+mn-cs"/>
                <a:sym typeface="Calibri"/>
              </a:defRPr>
            </a:lvl1pPr>
          </a:lstStyle>
          <a:p>
            <a:pPr/>
            <a:fld id="{86CB4B4D-7CA3-9044-876B-883B54F8677D}" type="slidenum"/>
          </a:p>
        </p:txBody>
      </p:sp>
      <p:sp>
        <p:nvSpPr>
          <p:cNvPr id="91" name="TextBox 45"/>
          <p:cNvSpPr txBox="1"/>
          <p:nvPr/>
        </p:nvSpPr>
        <p:spPr>
          <a:xfrm>
            <a:off x="1264919" y="2875178"/>
            <a:ext cx="6614161" cy="110764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800">
                <a:latin typeface="SignPainter-HouseScript Semibold"/>
                <a:ea typeface="SignPainter-HouseScript Semibold"/>
                <a:cs typeface="SignPainter-HouseScript Semibold"/>
                <a:sym typeface="SignPainter-HouseScript Semibold"/>
              </a:defRPr>
            </a:lvl1pPr>
          </a:lstStyle>
          <a:p>
            <a:pPr/>
            <a:r>
              <a:t>Thank you</a:t>
            </a:r>
          </a:p>
        </p:txBody>
      </p:sp>
    </p:spTree>
  </p:cSld>
  <p:clrMapOvr>
    <a:masterClrMapping/>
  </p:clrMapOvr>
  <mc:AlternateContent xmlns:mc="http://schemas.openxmlformats.org/markup-compatibility/2006">
    <mc:Choice xmlns:p14="http://schemas.microsoft.com/office/powerpoint/2010/main" Requires="p14">
      <p:transition spd="slow" advClick="1" p14:dur="1500">
        <p14:rippl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7C7C7C"/>
      </a:accent1>
      <a:accent2>
        <a:srgbClr val="B2B2B2"/>
      </a:accent2>
      <a:accent3>
        <a:srgbClr val="969696"/>
      </a:accent3>
      <a:accent4>
        <a:srgbClr val="808080"/>
      </a:accent4>
      <a:accent5>
        <a:srgbClr val="5F5F5F"/>
      </a:accent5>
      <a:accent6>
        <a:srgbClr val="4D4D4D"/>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2">
              <a:lumOff val="16690"/>
            </a:schemeClr>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2">
              <a:lumOff val="16690"/>
            </a:schemeClr>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7C7C7C"/>
      </a:accent1>
      <a:accent2>
        <a:srgbClr val="B2B2B2"/>
      </a:accent2>
      <a:accent3>
        <a:srgbClr val="969696"/>
      </a:accent3>
      <a:accent4>
        <a:srgbClr val="808080"/>
      </a:accent4>
      <a:accent5>
        <a:srgbClr val="5F5F5F"/>
      </a:accent5>
      <a:accent6>
        <a:srgbClr val="4D4D4D"/>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2">
              <a:lumOff val="16690"/>
            </a:schemeClr>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2">
              <a:lumOff val="16690"/>
            </a:schemeClr>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